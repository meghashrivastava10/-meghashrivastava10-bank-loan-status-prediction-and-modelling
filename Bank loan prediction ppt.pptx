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46"/>
  </p:notesMasterIdLst>
  <p:sldIdLst>
    <p:sldId id="256" r:id="rId2"/>
    <p:sldId id="257" r:id="rId3"/>
    <p:sldId id="265" r:id="rId4"/>
    <p:sldId id="264" r:id="rId5"/>
    <p:sldId id="262" r:id="rId6"/>
    <p:sldId id="263" r:id="rId7"/>
    <p:sldId id="259" r:id="rId8"/>
    <p:sldId id="271" r:id="rId9"/>
    <p:sldId id="270" r:id="rId10"/>
    <p:sldId id="269" r:id="rId11"/>
    <p:sldId id="272" r:id="rId12"/>
    <p:sldId id="273" r:id="rId13"/>
    <p:sldId id="274" r:id="rId14"/>
    <p:sldId id="267" r:id="rId15"/>
    <p:sldId id="275" r:id="rId16"/>
    <p:sldId id="276" r:id="rId17"/>
    <p:sldId id="277" r:id="rId18"/>
    <p:sldId id="278" r:id="rId19"/>
    <p:sldId id="279" r:id="rId20"/>
    <p:sldId id="280" r:id="rId21"/>
    <p:sldId id="281" r:id="rId22"/>
    <p:sldId id="268" r:id="rId23"/>
    <p:sldId id="283" r:id="rId24"/>
    <p:sldId id="282" r:id="rId25"/>
    <p:sldId id="284" r:id="rId26"/>
    <p:sldId id="285" r:id="rId27"/>
    <p:sldId id="286" r:id="rId28"/>
    <p:sldId id="287" r:id="rId29"/>
    <p:sldId id="288" r:id="rId30"/>
    <p:sldId id="289" r:id="rId31"/>
    <p:sldId id="290" r:id="rId32"/>
    <p:sldId id="261" r:id="rId33"/>
    <p:sldId id="291" r:id="rId34"/>
    <p:sldId id="292" r:id="rId35"/>
    <p:sldId id="293" r:id="rId36"/>
    <p:sldId id="295" r:id="rId37"/>
    <p:sldId id="296" r:id="rId38"/>
    <p:sldId id="297" r:id="rId39"/>
    <p:sldId id="298" r:id="rId40"/>
    <p:sldId id="299" r:id="rId41"/>
    <p:sldId id="300" r:id="rId42"/>
    <p:sldId id="294" r:id="rId43"/>
    <p:sldId id="260" r:id="rId44"/>
    <p:sldId id="266" r:id="rId4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80" d="100"/>
          <a:sy n="80" d="100"/>
        </p:scale>
        <p:origin x="782" y="1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llavi shrivastava" userId="cd940d13048aa7f3" providerId="LiveId" clId="{71C58788-84E1-4950-87AD-8691FF11668B}"/>
    <pc:docChg chg="custSel modSld">
      <pc:chgData name="pallavi shrivastava" userId="cd940d13048aa7f3" providerId="LiveId" clId="{71C58788-84E1-4950-87AD-8691FF11668B}" dt="2020-04-26T05:36:47.501" v="719" actId="14100"/>
      <pc:docMkLst>
        <pc:docMk/>
      </pc:docMkLst>
      <pc:sldChg chg="modSp">
        <pc:chgData name="pallavi shrivastava" userId="cd940d13048aa7f3" providerId="LiveId" clId="{71C58788-84E1-4950-87AD-8691FF11668B}" dt="2020-04-26T05:36:23.546" v="715" actId="14100"/>
        <pc:sldMkLst>
          <pc:docMk/>
          <pc:sldMk cId="606720966" sldId="261"/>
        </pc:sldMkLst>
        <pc:spChg chg="mod">
          <ac:chgData name="pallavi shrivastava" userId="cd940d13048aa7f3" providerId="LiveId" clId="{71C58788-84E1-4950-87AD-8691FF11668B}" dt="2020-04-26T05:36:23.546" v="715" actId="14100"/>
          <ac:spMkLst>
            <pc:docMk/>
            <pc:sldMk cId="606720966" sldId="261"/>
            <ac:spMk id="3" creationId="{522168FB-CD15-4C07-8745-C8205CA73C3A}"/>
          </ac:spMkLst>
        </pc:spChg>
      </pc:sldChg>
      <pc:sldChg chg="modSp">
        <pc:chgData name="pallavi shrivastava" userId="cd940d13048aa7f3" providerId="LiveId" clId="{71C58788-84E1-4950-87AD-8691FF11668B}" dt="2020-04-26T05:23:47.268" v="0" actId="20577"/>
        <pc:sldMkLst>
          <pc:docMk/>
          <pc:sldMk cId="479014287" sldId="262"/>
        </pc:sldMkLst>
        <pc:spChg chg="mod">
          <ac:chgData name="pallavi shrivastava" userId="cd940d13048aa7f3" providerId="LiveId" clId="{71C58788-84E1-4950-87AD-8691FF11668B}" dt="2020-04-26T05:23:47.268" v="0" actId="20577"/>
          <ac:spMkLst>
            <pc:docMk/>
            <pc:sldMk cId="479014287" sldId="262"/>
            <ac:spMk id="3" creationId="{522168FB-CD15-4C07-8745-C8205CA73C3A}"/>
          </ac:spMkLst>
        </pc:spChg>
      </pc:sldChg>
      <pc:sldChg chg="modSp">
        <pc:chgData name="pallavi shrivastava" userId="cd940d13048aa7f3" providerId="LiveId" clId="{71C58788-84E1-4950-87AD-8691FF11668B}" dt="2020-04-26T05:36:47.501" v="719" actId="14100"/>
        <pc:sldMkLst>
          <pc:docMk/>
          <pc:sldMk cId="187955507" sldId="267"/>
        </pc:sldMkLst>
        <pc:spChg chg="mod">
          <ac:chgData name="pallavi shrivastava" userId="cd940d13048aa7f3" providerId="LiveId" clId="{71C58788-84E1-4950-87AD-8691FF11668B}" dt="2020-04-26T05:36:47.501" v="719" actId="14100"/>
          <ac:spMkLst>
            <pc:docMk/>
            <pc:sldMk cId="187955507" sldId="267"/>
            <ac:spMk id="3" creationId="{8617A6C2-5C00-4000-B9C9-981E7D031601}"/>
          </ac:spMkLst>
        </pc:spChg>
      </pc:sldChg>
      <pc:sldChg chg="modSp">
        <pc:chgData name="pallavi shrivastava" userId="cd940d13048aa7f3" providerId="LiveId" clId="{71C58788-84E1-4950-87AD-8691FF11668B}" dt="2020-04-26T05:36:32.548" v="716" actId="14100"/>
        <pc:sldMkLst>
          <pc:docMk/>
          <pc:sldMk cId="2816022574" sldId="268"/>
        </pc:sldMkLst>
        <pc:spChg chg="mod">
          <ac:chgData name="pallavi shrivastava" userId="cd940d13048aa7f3" providerId="LiveId" clId="{71C58788-84E1-4950-87AD-8691FF11668B}" dt="2020-04-26T05:36:32.548" v="716" actId="14100"/>
          <ac:spMkLst>
            <pc:docMk/>
            <pc:sldMk cId="2816022574" sldId="268"/>
            <ac:spMk id="3" creationId="{F2B980C3-1103-4326-8F0F-20D0F6FB310E}"/>
          </ac:spMkLst>
        </pc:spChg>
      </pc:sldChg>
    </pc:docChg>
  </pc:docChgLst>
  <pc:docChgLst>
    <pc:chgData name="pallavi shrivastava" userId="cd940d13048aa7f3" providerId="LiveId" clId="{FD56D2E9-0A3A-45D1-8827-808E703E1333}"/>
    <pc:docChg chg="undo custSel addSld modSld sldOrd">
      <pc:chgData name="pallavi shrivastava" userId="cd940d13048aa7f3" providerId="LiveId" clId="{FD56D2E9-0A3A-45D1-8827-808E703E1333}" dt="2020-04-26T04:13:49.985" v="436" actId="20577"/>
      <pc:docMkLst>
        <pc:docMk/>
      </pc:docMkLst>
      <pc:sldChg chg="modAnim">
        <pc:chgData name="pallavi shrivastava" userId="cd940d13048aa7f3" providerId="LiveId" clId="{FD56D2E9-0A3A-45D1-8827-808E703E1333}" dt="2020-04-26T02:31:32.741" v="162"/>
        <pc:sldMkLst>
          <pc:docMk/>
          <pc:sldMk cId="1812404815" sldId="256"/>
        </pc:sldMkLst>
      </pc:sldChg>
      <pc:sldChg chg="addSp delSp modSp modAnim">
        <pc:chgData name="pallavi shrivastava" userId="cd940d13048aa7f3" providerId="LiveId" clId="{FD56D2E9-0A3A-45D1-8827-808E703E1333}" dt="2020-04-26T02:38:39.258" v="214"/>
        <pc:sldMkLst>
          <pc:docMk/>
          <pc:sldMk cId="569939466" sldId="257"/>
        </pc:sldMkLst>
        <pc:spChg chg="mod">
          <ac:chgData name="pallavi shrivastava" userId="cd940d13048aa7f3" providerId="LiveId" clId="{FD56D2E9-0A3A-45D1-8827-808E703E1333}" dt="2020-04-26T01:11:54.921" v="1" actId="1076"/>
          <ac:spMkLst>
            <pc:docMk/>
            <pc:sldMk cId="569939466" sldId="257"/>
            <ac:spMk id="3" creationId="{522168FB-CD15-4C07-8745-C8205CA73C3A}"/>
          </ac:spMkLst>
        </pc:spChg>
        <pc:picChg chg="add del mod">
          <ac:chgData name="pallavi shrivastava" userId="cd940d13048aa7f3" providerId="LiveId" clId="{FD56D2E9-0A3A-45D1-8827-808E703E1333}" dt="2020-04-26T01:24:20.291" v="16" actId="478"/>
          <ac:picMkLst>
            <pc:docMk/>
            <pc:sldMk cId="569939466" sldId="257"/>
            <ac:picMk id="5" creationId="{B66EC848-9E1E-451D-959B-BAA00D593D10}"/>
          </ac:picMkLst>
        </pc:picChg>
        <pc:picChg chg="add mod">
          <ac:chgData name="pallavi shrivastava" userId="cd940d13048aa7f3" providerId="LiveId" clId="{FD56D2E9-0A3A-45D1-8827-808E703E1333}" dt="2020-04-26T01:24:54.399" v="26" actId="1076"/>
          <ac:picMkLst>
            <pc:docMk/>
            <pc:sldMk cId="569939466" sldId="257"/>
            <ac:picMk id="7" creationId="{B1DB17AF-BFB1-4302-AEF4-F13551481CC0}"/>
          </ac:picMkLst>
        </pc:picChg>
      </pc:sldChg>
      <pc:sldChg chg="addSp modSp modAnim">
        <pc:chgData name="pallavi shrivastava" userId="cd940d13048aa7f3" providerId="LiveId" clId="{FD56D2E9-0A3A-45D1-8827-808E703E1333}" dt="2020-04-26T02:38:09.415" v="213"/>
        <pc:sldMkLst>
          <pc:docMk/>
          <pc:sldMk cId="3714828819" sldId="259"/>
        </pc:sldMkLst>
        <pc:picChg chg="add mod">
          <ac:chgData name="pallavi shrivastava" userId="cd940d13048aa7f3" providerId="LiveId" clId="{FD56D2E9-0A3A-45D1-8827-808E703E1333}" dt="2020-04-26T02:25:43.576" v="153" actId="14100"/>
          <ac:picMkLst>
            <pc:docMk/>
            <pc:sldMk cId="3714828819" sldId="259"/>
            <ac:picMk id="5" creationId="{C1FCD55C-33F5-4B10-8093-5B22D986A772}"/>
          </ac:picMkLst>
        </pc:picChg>
      </pc:sldChg>
      <pc:sldChg chg="modAnim">
        <pc:chgData name="pallavi shrivastava" userId="cd940d13048aa7f3" providerId="LiveId" clId="{FD56D2E9-0A3A-45D1-8827-808E703E1333}" dt="2020-04-26T02:34:05.283" v="193"/>
        <pc:sldMkLst>
          <pc:docMk/>
          <pc:sldMk cId="3811173545" sldId="260"/>
        </pc:sldMkLst>
      </pc:sldChg>
      <pc:sldChg chg="modSp modAnim">
        <pc:chgData name="pallavi shrivastava" userId="cd940d13048aa7f3" providerId="LiveId" clId="{FD56D2E9-0A3A-45D1-8827-808E703E1333}" dt="2020-04-26T04:13:49.985" v="436" actId="20577"/>
        <pc:sldMkLst>
          <pc:docMk/>
          <pc:sldMk cId="606720966" sldId="261"/>
        </pc:sldMkLst>
        <pc:spChg chg="mod">
          <ac:chgData name="pallavi shrivastava" userId="cd940d13048aa7f3" providerId="LiveId" clId="{FD56D2E9-0A3A-45D1-8827-808E703E1333}" dt="2020-04-26T04:13:49.985" v="436" actId="20577"/>
          <ac:spMkLst>
            <pc:docMk/>
            <pc:sldMk cId="606720966" sldId="261"/>
            <ac:spMk id="2" creationId="{7D174241-0849-4D3B-BF8C-6552EB2898EA}"/>
          </ac:spMkLst>
        </pc:spChg>
      </pc:sldChg>
      <pc:sldChg chg="addSp modSp modAnim">
        <pc:chgData name="pallavi shrivastava" userId="cd940d13048aa7f3" providerId="LiveId" clId="{FD56D2E9-0A3A-45D1-8827-808E703E1333}" dt="2020-04-26T02:37:45.931" v="212"/>
        <pc:sldMkLst>
          <pc:docMk/>
          <pc:sldMk cId="479014287" sldId="262"/>
        </pc:sldMkLst>
        <pc:spChg chg="mod">
          <ac:chgData name="pallavi shrivastava" userId="cd940d13048aa7f3" providerId="LiveId" clId="{FD56D2E9-0A3A-45D1-8827-808E703E1333}" dt="2020-04-26T02:06:07.687" v="108" actId="14100"/>
          <ac:spMkLst>
            <pc:docMk/>
            <pc:sldMk cId="479014287" sldId="262"/>
            <ac:spMk id="3" creationId="{522168FB-CD15-4C07-8745-C8205CA73C3A}"/>
          </ac:spMkLst>
        </pc:spChg>
        <pc:picChg chg="add mod">
          <ac:chgData name="pallavi shrivastava" userId="cd940d13048aa7f3" providerId="LiveId" clId="{FD56D2E9-0A3A-45D1-8827-808E703E1333}" dt="2020-04-26T02:17:21.674" v="115" actId="14100"/>
          <ac:picMkLst>
            <pc:docMk/>
            <pc:sldMk cId="479014287" sldId="262"/>
            <ac:picMk id="5" creationId="{C2275BED-DC46-4059-90EE-418F97D90BE4}"/>
          </ac:picMkLst>
        </pc:picChg>
      </pc:sldChg>
      <pc:sldChg chg="addSp modSp modAnim">
        <pc:chgData name="pallavi shrivastava" userId="cd940d13048aa7f3" providerId="LiveId" clId="{FD56D2E9-0A3A-45D1-8827-808E703E1333}" dt="2020-04-26T02:35:38.933" v="205"/>
        <pc:sldMkLst>
          <pc:docMk/>
          <pc:sldMk cId="355226541" sldId="263"/>
        </pc:sldMkLst>
        <pc:spChg chg="mod">
          <ac:chgData name="pallavi shrivastava" userId="cd940d13048aa7f3" providerId="LiveId" clId="{FD56D2E9-0A3A-45D1-8827-808E703E1333}" dt="2020-04-26T02:17:41.838" v="122" actId="14100"/>
          <ac:spMkLst>
            <pc:docMk/>
            <pc:sldMk cId="355226541" sldId="263"/>
            <ac:spMk id="3" creationId="{522168FB-CD15-4C07-8745-C8205CA73C3A}"/>
          </ac:spMkLst>
        </pc:spChg>
        <pc:picChg chg="add mod">
          <ac:chgData name="pallavi shrivastava" userId="cd940d13048aa7f3" providerId="LiveId" clId="{FD56D2E9-0A3A-45D1-8827-808E703E1333}" dt="2020-04-26T02:20:28.533" v="142" actId="1076"/>
          <ac:picMkLst>
            <pc:docMk/>
            <pc:sldMk cId="355226541" sldId="263"/>
            <ac:picMk id="5" creationId="{7CFD18BA-C9B5-4507-B4CF-62D19594A75E}"/>
          </ac:picMkLst>
        </pc:picChg>
        <pc:picChg chg="add mod">
          <ac:chgData name="pallavi shrivastava" userId="cd940d13048aa7f3" providerId="LiveId" clId="{FD56D2E9-0A3A-45D1-8827-808E703E1333}" dt="2020-04-26T02:20:45.688" v="147" actId="1076"/>
          <ac:picMkLst>
            <pc:docMk/>
            <pc:sldMk cId="355226541" sldId="263"/>
            <ac:picMk id="7" creationId="{8065F5EF-98F5-4E39-B59F-5FB867B1D84C}"/>
          </ac:picMkLst>
        </pc:picChg>
      </pc:sldChg>
      <pc:sldChg chg="addSp delSp modSp modAnim">
        <pc:chgData name="pallavi shrivastava" userId="cd940d13048aa7f3" providerId="LiveId" clId="{FD56D2E9-0A3A-45D1-8827-808E703E1333}" dt="2020-04-26T02:37:23.982" v="211"/>
        <pc:sldMkLst>
          <pc:docMk/>
          <pc:sldMk cId="1331463590" sldId="264"/>
        </pc:sldMkLst>
        <pc:spChg chg="mod">
          <ac:chgData name="pallavi shrivastava" userId="cd940d13048aa7f3" providerId="LiveId" clId="{FD56D2E9-0A3A-45D1-8827-808E703E1333}" dt="2020-04-26T01:28:18.313" v="34" actId="14100"/>
          <ac:spMkLst>
            <pc:docMk/>
            <pc:sldMk cId="1331463590" sldId="264"/>
            <ac:spMk id="3" creationId="{522168FB-CD15-4C07-8745-C8205CA73C3A}"/>
          </ac:spMkLst>
        </pc:spChg>
        <pc:picChg chg="add del mod">
          <ac:chgData name="pallavi shrivastava" userId="cd940d13048aa7f3" providerId="LiveId" clId="{FD56D2E9-0A3A-45D1-8827-808E703E1333}" dt="2020-04-26T01:30:56.021" v="44" actId="478"/>
          <ac:picMkLst>
            <pc:docMk/>
            <pc:sldMk cId="1331463590" sldId="264"/>
            <ac:picMk id="5" creationId="{913CD72A-B211-42E7-9934-862E533B607A}"/>
          </ac:picMkLst>
        </pc:picChg>
        <pc:picChg chg="add del mod">
          <ac:chgData name="pallavi shrivastava" userId="cd940d13048aa7f3" providerId="LiveId" clId="{FD56D2E9-0A3A-45D1-8827-808E703E1333}" dt="2020-04-26T01:30:56.021" v="44" actId="478"/>
          <ac:picMkLst>
            <pc:docMk/>
            <pc:sldMk cId="1331463590" sldId="264"/>
            <ac:picMk id="7" creationId="{9C9ACDF2-CBAC-4D45-A9B5-EDF0FC50C174}"/>
          </ac:picMkLst>
        </pc:picChg>
        <pc:picChg chg="add del mod">
          <ac:chgData name="pallavi shrivastava" userId="cd940d13048aa7f3" providerId="LiveId" clId="{FD56D2E9-0A3A-45D1-8827-808E703E1333}" dt="2020-04-26T01:33:22.800" v="92" actId="478"/>
          <ac:picMkLst>
            <pc:docMk/>
            <pc:sldMk cId="1331463590" sldId="264"/>
            <ac:picMk id="9" creationId="{B08B65D2-F391-4C88-ABC9-C95A5A3CD984}"/>
          </ac:picMkLst>
        </pc:picChg>
        <pc:picChg chg="add del mod">
          <ac:chgData name="pallavi shrivastava" userId="cd940d13048aa7f3" providerId="LiveId" clId="{FD56D2E9-0A3A-45D1-8827-808E703E1333}" dt="2020-04-26T01:33:20.931" v="91" actId="478"/>
          <ac:picMkLst>
            <pc:docMk/>
            <pc:sldMk cId="1331463590" sldId="264"/>
            <ac:picMk id="11" creationId="{842152FA-2B24-4486-B8DF-F1767B12E076}"/>
          </ac:picMkLst>
        </pc:picChg>
        <pc:picChg chg="add del mod">
          <ac:chgData name="pallavi shrivastava" userId="cd940d13048aa7f3" providerId="LiveId" clId="{FD56D2E9-0A3A-45D1-8827-808E703E1333}" dt="2020-04-26T01:35:20.546" v="94" actId="931"/>
          <ac:picMkLst>
            <pc:docMk/>
            <pc:sldMk cId="1331463590" sldId="264"/>
            <ac:picMk id="13" creationId="{85529803-4AE5-446F-B45F-7E8A6D43D447}"/>
          </ac:picMkLst>
        </pc:picChg>
        <pc:picChg chg="add mod">
          <ac:chgData name="pallavi shrivastava" userId="cd940d13048aa7f3" providerId="LiveId" clId="{FD56D2E9-0A3A-45D1-8827-808E703E1333}" dt="2020-04-26T02:30:38.011" v="154" actId="1076"/>
          <ac:picMkLst>
            <pc:docMk/>
            <pc:sldMk cId="1331463590" sldId="264"/>
            <ac:picMk id="14" creationId="{90FE747D-748B-486A-9DF8-1119DB6C7851}"/>
          </ac:picMkLst>
        </pc:picChg>
      </pc:sldChg>
      <pc:sldChg chg="addSp delSp modSp modAnim">
        <pc:chgData name="pallavi shrivastava" userId="cd940d13048aa7f3" providerId="LiveId" clId="{FD56D2E9-0A3A-45D1-8827-808E703E1333}" dt="2020-04-26T02:34:28.770" v="195"/>
        <pc:sldMkLst>
          <pc:docMk/>
          <pc:sldMk cId="4016793572" sldId="265"/>
        </pc:sldMkLst>
        <pc:spChg chg="del">
          <ac:chgData name="pallavi shrivastava" userId="cd940d13048aa7f3" providerId="LiveId" clId="{FD56D2E9-0A3A-45D1-8827-808E703E1333}" dt="2020-04-26T02:06:23.700" v="109"/>
          <ac:spMkLst>
            <pc:docMk/>
            <pc:sldMk cId="4016793572" sldId="265"/>
            <ac:spMk id="3" creationId="{522168FB-CD15-4C07-8745-C8205CA73C3A}"/>
          </ac:spMkLst>
        </pc:spChg>
        <pc:picChg chg="add mod">
          <ac:chgData name="pallavi shrivastava" userId="cd940d13048aa7f3" providerId="LiveId" clId="{FD56D2E9-0A3A-45D1-8827-808E703E1333}" dt="2020-04-26T01:26:00.687" v="32" actId="14100"/>
          <ac:picMkLst>
            <pc:docMk/>
            <pc:sldMk cId="4016793572" sldId="265"/>
            <ac:picMk id="39" creationId="{A2ABF8B7-5577-418F-9163-97196B4137CA}"/>
          </ac:picMkLst>
        </pc:picChg>
      </pc:sldChg>
      <pc:sldChg chg="modAnim">
        <pc:chgData name="pallavi shrivastava" userId="cd940d13048aa7f3" providerId="LiveId" clId="{FD56D2E9-0A3A-45D1-8827-808E703E1333}" dt="2020-04-26T02:34:15.314" v="194"/>
        <pc:sldMkLst>
          <pc:docMk/>
          <pc:sldMk cId="4120749748" sldId="266"/>
        </pc:sldMkLst>
      </pc:sldChg>
      <pc:sldChg chg="modAnim">
        <pc:chgData name="pallavi shrivastava" userId="cd940d13048aa7f3" providerId="LiveId" clId="{FD56D2E9-0A3A-45D1-8827-808E703E1333}" dt="2020-04-26T02:33:49.153" v="190"/>
        <pc:sldMkLst>
          <pc:docMk/>
          <pc:sldMk cId="187955507" sldId="267"/>
        </pc:sldMkLst>
      </pc:sldChg>
      <pc:sldChg chg="modAnim">
        <pc:chgData name="pallavi shrivastava" userId="cd940d13048aa7f3" providerId="LiveId" clId="{FD56D2E9-0A3A-45D1-8827-808E703E1333}" dt="2020-04-26T02:33:55.125" v="191"/>
        <pc:sldMkLst>
          <pc:docMk/>
          <pc:sldMk cId="2816022574" sldId="268"/>
        </pc:sldMkLst>
      </pc:sldChg>
      <pc:sldChg chg="addSp delSp modSp add ord modAnim">
        <pc:chgData name="pallavi shrivastava" userId="cd940d13048aa7f3" providerId="LiveId" clId="{FD56D2E9-0A3A-45D1-8827-808E703E1333}" dt="2020-04-26T04:11:37.232" v="405"/>
        <pc:sldMkLst>
          <pc:docMk/>
          <pc:sldMk cId="3474895610" sldId="269"/>
        </pc:sldMkLst>
        <pc:spChg chg="mod">
          <ac:chgData name="pallavi shrivastava" userId="cd940d13048aa7f3" providerId="LiveId" clId="{FD56D2E9-0A3A-45D1-8827-808E703E1333}" dt="2020-04-26T04:09:34.505" v="390" actId="20577"/>
          <ac:spMkLst>
            <pc:docMk/>
            <pc:sldMk cId="3474895610" sldId="269"/>
            <ac:spMk id="2" creationId="{B8FD0900-DC30-4BF3-B116-35AEAB75780A}"/>
          </ac:spMkLst>
        </pc:spChg>
        <pc:spChg chg="del">
          <ac:chgData name="pallavi shrivastava" userId="cd940d13048aa7f3" providerId="LiveId" clId="{FD56D2E9-0A3A-45D1-8827-808E703E1333}" dt="2020-04-26T04:06:48.828" v="282"/>
          <ac:spMkLst>
            <pc:docMk/>
            <pc:sldMk cId="3474895610" sldId="269"/>
            <ac:spMk id="3" creationId="{8AAD089C-65FE-4FE4-8C19-1D27AFAD5158}"/>
          </ac:spMkLst>
        </pc:spChg>
        <pc:picChg chg="add mod">
          <ac:chgData name="pallavi shrivastava" userId="cd940d13048aa7f3" providerId="LiveId" clId="{FD56D2E9-0A3A-45D1-8827-808E703E1333}" dt="2020-04-26T04:07:11.257" v="289" actId="14100"/>
          <ac:picMkLst>
            <pc:docMk/>
            <pc:sldMk cId="3474895610" sldId="269"/>
            <ac:picMk id="4" creationId="{D3B4B88E-D880-4448-9025-316C3869F097}"/>
          </ac:picMkLst>
        </pc:picChg>
        <pc:picChg chg="add mod">
          <ac:chgData name="pallavi shrivastava" userId="cd940d13048aa7f3" providerId="LiveId" clId="{FD56D2E9-0A3A-45D1-8827-808E703E1333}" dt="2020-04-26T04:07:21.935" v="291" actId="14100"/>
          <ac:picMkLst>
            <pc:docMk/>
            <pc:sldMk cId="3474895610" sldId="269"/>
            <ac:picMk id="5" creationId="{AF1E8CB7-D932-446D-8ACF-820C4BF4613E}"/>
          </ac:picMkLst>
        </pc:picChg>
      </pc:sldChg>
      <pc:sldChg chg="addSp delSp modSp add ord modAnim">
        <pc:chgData name="pallavi shrivastava" userId="cd940d13048aa7f3" providerId="LiveId" clId="{FD56D2E9-0A3A-45D1-8827-808E703E1333}" dt="2020-04-26T04:11:22.255" v="403"/>
        <pc:sldMkLst>
          <pc:docMk/>
          <pc:sldMk cId="1354565166" sldId="270"/>
        </pc:sldMkLst>
        <pc:spChg chg="mod">
          <ac:chgData name="pallavi shrivastava" userId="cd940d13048aa7f3" providerId="LiveId" clId="{FD56D2E9-0A3A-45D1-8827-808E703E1333}" dt="2020-04-26T04:09:03.504" v="375" actId="20577"/>
          <ac:spMkLst>
            <pc:docMk/>
            <pc:sldMk cId="1354565166" sldId="270"/>
            <ac:spMk id="2" creationId="{E4B4FF72-A20E-4E84-B640-CD619CC7BA62}"/>
          </ac:spMkLst>
        </pc:spChg>
        <pc:spChg chg="del">
          <ac:chgData name="pallavi shrivastava" userId="cd940d13048aa7f3" providerId="LiveId" clId="{FD56D2E9-0A3A-45D1-8827-808E703E1333}" dt="2020-04-26T04:05:49.886" v="270"/>
          <ac:spMkLst>
            <pc:docMk/>
            <pc:sldMk cId="1354565166" sldId="270"/>
            <ac:spMk id="3" creationId="{E2612C18-A504-4AE3-B0D0-1D0C120BBB03}"/>
          </ac:spMkLst>
        </pc:spChg>
        <pc:picChg chg="add mod">
          <ac:chgData name="pallavi shrivastava" userId="cd940d13048aa7f3" providerId="LiveId" clId="{FD56D2E9-0A3A-45D1-8827-808E703E1333}" dt="2020-04-26T04:06:21.977" v="278" actId="14100"/>
          <ac:picMkLst>
            <pc:docMk/>
            <pc:sldMk cId="1354565166" sldId="270"/>
            <ac:picMk id="4" creationId="{68D442B8-6A09-4069-BC00-426C115ABB96}"/>
          </ac:picMkLst>
        </pc:picChg>
        <pc:picChg chg="add mod">
          <ac:chgData name="pallavi shrivastava" userId="cd940d13048aa7f3" providerId="LiveId" clId="{FD56D2E9-0A3A-45D1-8827-808E703E1333}" dt="2020-04-26T04:06:31.816" v="281" actId="1076"/>
          <ac:picMkLst>
            <pc:docMk/>
            <pc:sldMk cId="1354565166" sldId="270"/>
            <ac:picMk id="5" creationId="{A093F236-A3B8-4716-8C57-B2FBA1C64F74}"/>
          </ac:picMkLst>
        </pc:picChg>
      </pc:sldChg>
      <pc:sldChg chg="addSp delSp modSp add modAnim">
        <pc:chgData name="pallavi shrivastava" userId="cd940d13048aa7f3" providerId="LiveId" clId="{FD56D2E9-0A3A-45D1-8827-808E703E1333}" dt="2020-04-26T04:07:53.446" v="295"/>
        <pc:sldMkLst>
          <pc:docMk/>
          <pc:sldMk cId="4245915273" sldId="271"/>
        </pc:sldMkLst>
        <pc:spChg chg="mod">
          <ac:chgData name="pallavi shrivastava" userId="cd940d13048aa7f3" providerId="LiveId" clId="{FD56D2E9-0A3A-45D1-8827-808E703E1333}" dt="2020-04-26T04:03:05.102" v="238" actId="20577"/>
          <ac:spMkLst>
            <pc:docMk/>
            <pc:sldMk cId="4245915273" sldId="271"/>
            <ac:spMk id="2" creationId="{85579DE8-C33A-4467-B624-06863FF5C919}"/>
          </ac:spMkLst>
        </pc:spChg>
        <pc:spChg chg="del">
          <ac:chgData name="pallavi shrivastava" userId="cd940d13048aa7f3" providerId="LiveId" clId="{FD56D2E9-0A3A-45D1-8827-808E703E1333}" dt="2020-04-26T04:03:41.222" v="240"/>
          <ac:spMkLst>
            <pc:docMk/>
            <pc:sldMk cId="4245915273" sldId="271"/>
            <ac:spMk id="3" creationId="{E3E12781-67A2-4426-B68C-7DD3C9D0AB0F}"/>
          </ac:spMkLst>
        </pc:spChg>
        <pc:picChg chg="add mod">
          <ac:chgData name="pallavi shrivastava" userId="cd940d13048aa7f3" providerId="LiveId" clId="{FD56D2E9-0A3A-45D1-8827-808E703E1333}" dt="2020-04-26T04:04:24.603" v="256" actId="14100"/>
          <ac:picMkLst>
            <pc:docMk/>
            <pc:sldMk cId="4245915273" sldId="271"/>
            <ac:picMk id="4" creationId="{5ECD3FD2-BF75-4352-B85D-39F36209EA7A}"/>
          </ac:picMkLst>
        </pc:picChg>
        <pc:picChg chg="add mod">
          <ac:chgData name="pallavi shrivastava" userId="cd940d13048aa7f3" providerId="LiveId" clId="{FD56D2E9-0A3A-45D1-8827-808E703E1333}" dt="2020-04-26T04:05:08.982" v="267" actId="14100"/>
          <ac:picMkLst>
            <pc:docMk/>
            <pc:sldMk cId="4245915273" sldId="271"/>
            <ac:picMk id="5" creationId="{AE1B3B7D-D97C-4676-B76C-33DEE8704CD3}"/>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BAD0790-66CC-4566-892C-247DCED4EAD1}" type="datetimeFigureOut">
              <a:rPr lang="en-US" smtClean="0"/>
              <a:t>4/26/2020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2ECD7F-4200-4F95-B35C-7F563160B48B}" type="slidenum">
              <a:rPr lang="en-US" smtClean="0"/>
              <a:t>‹#›</a:t>
            </a:fld>
            <a:endParaRPr lang="en-US"/>
          </a:p>
        </p:txBody>
      </p:sp>
    </p:spTree>
    <p:extLst>
      <p:ext uri="{BB962C8B-B14F-4D97-AF65-F5344CB8AC3E}">
        <p14:creationId xmlns:p14="http://schemas.microsoft.com/office/powerpoint/2010/main" val="16582065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p:cNvSpPr/>
          <p:nvPr/>
        </p:nvSpPr>
        <p:spPr>
          <a:xfrm>
            <a:off x="11292840" y="0"/>
            <a:ext cx="914400" cy="6858000"/>
          </a:xfrm>
          <a:prstGeom prst="rect">
            <a:avLst/>
          </a:prstGeom>
          <a:solidFill>
            <a:srgbClr val="30303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6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0FBB7492-0848-4C97-A763-3D90BF37673D}" type="datetimeFigureOut">
              <a:rPr lang="en-US" smtClean="0"/>
              <a:t>4/26/2020</a:t>
            </a:fld>
            <a:endParaRPr lang="en-US"/>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a:p>
        </p:txBody>
      </p:sp>
      <p:sp>
        <p:nvSpPr>
          <p:cNvPr id="6" name="Slide Number Placeholder 5"/>
          <p:cNvSpPr>
            <a:spLocks noGrp="1"/>
          </p:cNvSpPr>
          <p:nvPr>
            <p:ph type="sldNum" sz="quarter" idx="12"/>
          </p:nvPr>
        </p:nvSpPr>
        <p:spPr/>
        <p:txBody>
          <a:bodyPr vert="horz" lIns="45720" tIns="45720" rIns="45720" bIns="45720" rtlCol="0" anchor="ctr">
            <a:normAutofit/>
          </a:bodyPr>
          <a:lstStyle>
            <a:lvl1pPr>
              <a:defRPr lang="en-US"/>
            </a:lvl1pPr>
          </a:lstStyle>
          <a:p>
            <a:fld id="{F2974C81-EF0B-4A6F-84A6-1D99CC0157FC}" type="slidenum">
              <a:rPr lang="en-US" smtClean="0"/>
              <a:t>‹#›</a:t>
            </a:fld>
            <a:endParaRPr lang="en-US"/>
          </a:p>
        </p:txBody>
      </p:sp>
      <p:sp>
        <p:nvSpPr>
          <p:cNvPr id="7" name="Rectangle 6"/>
          <p:cNvSpPr/>
          <p:nvPr/>
        </p:nvSpPr>
        <p:spPr>
          <a:xfrm>
            <a:off x="0" y="0"/>
            <a:ext cx="457200" cy="6858000"/>
          </a:xfrm>
          <a:prstGeom prst="rect">
            <a:avLst/>
          </a:prstGeom>
          <a:solidFill>
            <a:srgbClr val="303030"/>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9003081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FBB7492-0848-4C97-A763-3D90BF37673D}" type="datetimeFigureOut">
              <a:rPr lang="en-US" smtClean="0"/>
              <a:t>4/26/2020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974C81-EF0B-4A6F-84A6-1D99CC0157FC}" type="slidenum">
              <a:rPr lang="en-US" smtClean="0"/>
              <a:t>‹#›</a:t>
            </a:fld>
            <a:endParaRPr lang="en-US"/>
          </a:p>
        </p:txBody>
      </p:sp>
    </p:spTree>
    <p:extLst>
      <p:ext uri="{BB962C8B-B14F-4D97-AF65-F5344CB8AC3E}">
        <p14:creationId xmlns:p14="http://schemas.microsoft.com/office/powerpoint/2010/main" val="13973731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8" name="Rectangle 7"/>
          <p:cNvSpPr/>
          <p:nvPr/>
        </p:nvSpPr>
        <p:spPr>
          <a:xfrm>
            <a:off x="11292840" y="0"/>
            <a:ext cx="914400" cy="6858000"/>
          </a:xfrm>
          <a:prstGeom prst="rect">
            <a:avLst/>
          </a:prstGeom>
          <a:solidFill>
            <a:srgbClr val="30303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FBB7492-0848-4C97-A763-3D90BF37673D}" type="datetimeFigureOut">
              <a:rPr lang="en-US" smtClean="0"/>
              <a:t>4/26/2020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974C81-EF0B-4A6F-84A6-1D99CC0157FC}" type="slidenum">
              <a:rPr lang="en-US" smtClean="0"/>
              <a:t>‹#›</a:t>
            </a:fld>
            <a:endParaRPr lang="en-US"/>
          </a:p>
        </p:txBody>
      </p:sp>
      <p:sp>
        <p:nvSpPr>
          <p:cNvPr id="7" name="Rectangle 6"/>
          <p:cNvSpPr/>
          <p:nvPr/>
        </p:nvSpPr>
        <p:spPr>
          <a:xfrm>
            <a:off x="0" y="0"/>
            <a:ext cx="457200" cy="6858000"/>
          </a:xfrm>
          <a:prstGeom prst="rect">
            <a:avLst/>
          </a:prstGeom>
          <a:solidFill>
            <a:srgbClr val="303030"/>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1804868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FBB7492-0848-4C97-A763-3D90BF37673D}" type="datetimeFigureOut">
              <a:rPr lang="en-US" smtClean="0"/>
              <a:t>4/26/2020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2974C81-EF0B-4A6F-84A6-1D99CC0157FC}" type="slidenum">
              <a:rPr lang="en-US" smtClean="0"/>
              <a:t>‹#›</a:t>
            </a:fld>
            <a:endParaRPr lang="en-US"/>
          </a:p>
        </p:txBody>
      </p:sp>
    </p:spTree>
    <p:extLst>
      <p:ext uri="{BB962C8B-B14F-4D97-AF65-F5344CB8AC3E}">
        <p14:creationId xmlns:p14="http://schemas.microsoft.com/office/powerpoint/2010/main" val="11193630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7879"/>
            <a:ext cx="4480560" cy="731520"/>
          </a:xfrm>
        </p:spPr>
        <p:txBody>
          <a:bodyPr anchor="b">
            <a:normAutofit/>
          </a:bodyPr>
          <a:lstStyle>
            <a:lvl1pPr marL="0" indent="0">
              <a:spcBef>
                <a:spcPts val="0"/>
              </a:spcBef>
              <a:buNone/>
              <a:defRPr sz="2000" b="0">
                <a:solidFill>
                  <a:schemeClr val="tx1">
                    <a:lumMod val="6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13"/>
          </p:nvPr>
        </p:nvSpPr>
        <p:spPr>
          <a:xfrm>
            <a:off x="6126480" y="1717879"/>
            <a:ext cx="4480560" cy="731520"/>
          </a:xfrm>
        </p:spPr>
        <p:txBody>
          <a:bodyPr anchor="b">
            <a:normAutofit/>
          </a:bodyPr>
          <a:lstStyle>
            <a:lvl1pPr marL="0" indent="0">
              <a:spcBef>
                <a:spcPts val="0"/>
              </a:spcBef>
              <a:buFontTx/>
              <a:buNone/>
              <a:defRPr lang="en-US" sz="2000" b="0" kern="1200" spc="10" baseline="0" dirty="0">
                <a:solidFill>
                  <a:schemeClr val="tx1">
                    <a:lumMod val="65000"/>
                  </a:schemeClr>
                </a:solidFill>
                <a:latin typeface="+mn-lt"/>
                <a:ea typeface="+mn-ea"/>
                <a:cs typeface="+mn-cs"/>
              </a:defRPr>
            </a:lvl1pPr>
          </a:lstStyle>
          <a:p>
            <a:pPr lvl="0"/>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FBB7492-0848-4C97-A763-3D90BF37673D}" type="datetimeFigureOut">
              <a:rPr lang="en-US" smtClean="0"/>
              <a:t>4/26/2020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2974C81-EF0B-4A6F-84A6-1D99CC0157FC}" type="slidenum">
              <a:rPr lang="en-US" smtClean="0"/>
              <a:t>‹#›</a:t>
            </a:fld>
            <a:endParaRPr lang="en-US"/>
          </a:p>
        </p:txBody>
      </p:sp>
    </p:spTree>
    <p:extLst>
      <p:ext uri="{BB962C8B-B14F-4D97-AF65-F5344CB8AC3E}">
        <p14:creationId xmlns:p14="http://schemas.microsoft.com/office/powerpoint/2010/main" val="12412735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FBB7492-0848-4C97-A763-3D90BF37673D}" type="datetimeFigureOut">
              <a:rPr lang="en-US" smtClean="0"/>
              <a:t>4/26/2020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2974C81-EF0B-4A6F-84A6-1D99CC0157FC}" type="slidenum">
              <a:rPr lang="en-US" smtClean="0"/>
              <a:t>‹#›</a:t>
            </a:fld>
            <a:endParaRPr lang="en-US"/>
          </a:p>
        </p:txBody>
      </p:sp>
    </p:spTree>
    <p:extLst>
      <p:ext uri="{BB962C8B-B14F-4D97-AF65-F5344CB8AC3E}">
        <p14:creationId xmlns:p14="http://schemas.microsoft.com/office/powerpoint/2010/main" val="42860542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FBB7492-0848-4C97-A763-3D90BF37673D}" type="datetimeFigureOut">
              <a:rPr lang="en-US" smtClean="0"/>
              <a:t>4/26/2020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2974C81-EF0B-4A6F-84A6-1D99CC0157FC}" type="slidenum">
              <a:rPr lang="en-US" smtClean="0"/>
              <a:t>‹#›</a:t>
            </a:fld>
            <a:endParaRPr lang="en-US"/>
          </a:p>
        </p:txBody>
      </p:sp>
    </p:spTree>
    <p:extLst>
      <p:ext uri="{BB962C8B-B14F-4D97-AF65-F5344CB8AC3E}">
        <p14:creationId xmlns:p14="http://schemas.microsoft.com/office/powerpoint/2010/main" val="31578382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FBB7492-0848-4C97-A763-3D90BF37673D}" type="datetimeFigureOut">
              <a:rPr lang="en-US" smtClean="0"/>
              <a:t>4/26/2020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2974C81-EF0B-4A6F-84A6-1D99CC0157FC}" type="slidenum">
              <a:rPr lang="en-US" smtClean="0"/>
              <a:t>‹#›</a:t>
            </a:fld>
            <a:endParaRPr lang="en-US"/>
          </a:p>
        </p:txBody>
      </p:sp>
    </p:spTree>
    <p:extLst>
      <p:ext uri="{BB962C8B-B14F-4D97-AF65-F5344CB8AC3E}">
        <p14:creationId xmlns:p14="http://schemas.microsoft.com/office/powerpoint/2010/main" val="35412233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tx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tx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FBB7492-0848-4C97-A763-3D90BF37673D}" type="datetimeFigureOut">
              <a:rPr lang="en-US" smtClean="0"/>
              <a:t>4/26/2020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2974C81-EF0B-4A6F-84A6-1D99CC0157FC}" type="slidenum">
              <a:rPr lang="en-US" smtClean="0"/>
              <a:t>‹#›</a:t>
            </a:fld>
            <a:endParaRPr lang="en-US"/>
          </a:p>
        </p:txBody>
      </p:sp>
    </p:spTree>
    <p:extLst>
      <p:ext uri="{BB962C8B-B14F-4D97-AF65-F5344CB8AC3E}">
        <p14:creationId xmlns:p14="http://schemas.microsoft.com/office/powerpoint/2010/main" val="33373752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FBB7492-0848-4C97-A763-3D90BF37673D}" type="datetimeFigureOut">
              <a:rPr lang="en-US" smtClean="0"/>
              <a:t>4/26/2020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974C81-EF0B-4A6F-84A6-1D99CC0157FC}" type="slidenum">
              <a:rPr lang="en-US" smtClean="0"/>
              <a:t>‹#›</a:t>
            </a:fld>
            <a:endParaRPr lang="en-US"/>
          </a:p>
        </p:txBody>
      </p:sp>
    </p:spTree>
    <p:extLst>
      <p:ext uri="{BB962C8B-B14F-4D97-AF65-F5344CB8AC3E}">
        <p14:creationId xmlns:p14="http://schemas.microsoft.com/office/powerpoint/2010/main" val="1664590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FBB7492-0848-4C97-A763-3D90BF37673D}" type="datetimeFigureOut">
              <a:rPr lang="en-US" smtClean="0"/>
              <a:t>4/26/2020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974C81-EF0B-4A6F-84A6-1D99CC0157FC}" type="slidenum">
              <a:rPr lang="en-US" smtClean="0"/>
              <a:t>‹#›</a:t>
            </a:fld>
            <a:endParaRPr lang="en-US"/>
          </a:p>
        </p:txBody>
      </p:sp>
    </p:spTree>
    <p:extLst>
      <p:ext uri="{BB962C8B-B14F-4D97-AF65-F5344CB8AC3E}">
        <p14:creationId xmlns:p14="http://schemas.microsoft.com/office/powerpoint/2010/main" val="37759003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rgbClr val="30303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1">
                    <a:lumMod val="50000"/>
                  </a:schemeClr>
                </a:solidFill>
              </a:defRPr>
            </a:lvl1pPr>
          </a:lstStyle>
          <a:p>
            <a:fld id="{0FBB7492-0848-4C97-A763-3D90BF37673D}" type="datetimeFigureOut">
              <a:rPr lang="en-US" smtClean="0"/>
              <a:t>4/26/2020</a:t>
            </a:fld>
            <a:endParaRPr lang="en-US"/>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rgbClr val="969696"/>
                </a:solidFill>
              </a:defRPr>
            </a:lvl1pPr>
          </a:lstStyle>
          <a:p>
            <a:endParaRPr lang="en-US"/>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rgbClr val="777777"/>
                </a:solidFill>
              </a:defRPr>
            </a:lvl1pPr>
          </a:lstStyle>
          <a:p>
            <a:fld id="{F2974C81-EF0B-4A6F-84A6-1D99CC0157FC}" type="slidenum">
              <a:rPr lang="en-US" smtClean="0"/>
              <a:t>‹#›</a:t>
            </a:fld>
            <a:endParaRPr lang="en-US"/>
          </a:p>
        </p:txBody>
      </p:sp>
    </p:spTree>
    <p:extLst>
      <p:ext uri="{BB962C8B-B14F-4D97-AF65-F5344CB8AC3E}">
        <p14:creationId xmlns:p14="http://schemas.microsoft.com/office/powerpoint/2010/main" val="2296267741"/>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www.kaggle.com/zaurbegiev/my-dataset"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sv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6.xml"/><Relationship Id="rId1" Type="http://schemas.openxmlformats.org/officeDocument/2006/relationships/themeOverride" Target="../theme/themeOverride1.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6.xml"/><Relationship Id="rId4" Type="http://schemas.openxmlformats.org/officeDocument/2006/relationships/image" Target="../media/image48.png"/></Relationships>
</file>

<file path=ppt/slides/_rels/slide3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50.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98B8F34-DB1D-4FEB-B091-B7EEC99D68D9}"/>
              </a:ext>
            </a:extLst>
          </p:cNvPr>
          <p:cNvSpPr>
            <a:spLocks noGrp="1"/>
          </p:cNvSpPr>
          <p:nvPr>
            <p:ph type="subTitle" idx="1"/>
          </p:nvPr>
        </p:nvSpPr>
        <p:spPr/>
        <p:txBody>
          <a:bodyPr/>
          <a:lstStyle/>
          <a:p>
            <a:endParaRPr lang="en-US" dirty="0"/>
          </a:p>
        </p:txBody>
      </p:sp>
      <p:pic>
        <p:nvPicPr>
          <p:cNvPr id="6" name="Picture 5">
            <a:extLst>
              <a:ext uri="{FF2B5EF4-FFF2-40B4-BE49-F238E27FC236}">
                <a16:creationId xmlns:a16="http://schemas.microsoft.com/office/drawing/2014/main" id="{288C02B0-2356-4447-BE9E-98E21786143D}"/>
              </a:ext>
            </a:extLst>
          </p:cNvPr>
          <p:cNvPicPr>
            <a:picLocks noChangeAspect="1"/>
          </p:cNvPicPr>
          <p:nvPr/>
        </p:nvPicPr>
        <p:blipFill>
          <a:blip r:embed="rId2"/>
          <a:stretch>
            <a:fillRect/>
          </a:stretch>
        </p:blipFill>
        <p:spPr>
          <a:xfrm>
            <a:off x="781051" y="0"/>
            <a:ext cx="10801350" cy="6831825"/>
          </a:xfrm>
          <a:prstGeom prst="rect">
            <a:avLst/>
          </a:prstGeom>
        </p:spPr>
      </p:pic>
      <p:sp>
        <p:nvSpPr>
          <p:cNvPr id="7" name="Rectangle 6">
            <a:extLst>
              <a:ext uri="{FF2B5EF4-FFF2-40B4-BE49-F238E27FC236}">
                <a16:creationId xmlns:a16="http://schemas.microsoft.com/office/drawing/2014/main" id="{E18B39C1-266B-4725-8714-B180B13FE15B}"/>
              </a:ext>
            </a:extLst>
          </p:cNvPr>
          <p:cNvSpPr/>
          <p:nvPr/>
        </p:nvSpPr>
        <p:spPr>
          <a:xfrm>
            <a:off x="1943100" y="466725"/>
            <a:ext cx="8737092" cy="1015663"/>
          </a:xfrm>
          <a:prstGeom prst="rect">
            <a:avLst/>
          </a:prstGeom>
          <a:noFill/>
        </p:spPr>
        <p:txBody>
          <a:bodyPr wrap="square" lIns="91440" tIns="45720" rIns="91440" bIns="45720">
            <a:spAutoFit/>
          </a:bodyPr>
          <a:lstStyle/>
          <a:p>
            <a:pPr algn="ctr"/>
            <a:r>
              <a:rPr lang="en-US" sz="6000" b="1" dirty="0">
                <a:ln w="9525">
                  <a:solidFill>
                    <a:schemeClr val="bg1"/>
                  </a:solidFill>
                  <a:prstDash val="solid"/>
                </a:ln>
                <a:effectLst>
                  <a:outerShdw blurRad="12700" dist="38100" dir="2700000" algn="tl" rotWithShape="0">
                    <a:schemeClr val="bg1">
                      <a:lumMod val="50000"/>
                    </a:schemeClr>
                  </a:outerShdw>
                </a:effectLst>
              </a:rPr>
              <a:t>Bank Loan Status</a:t>
            </a:r>
          </a:p>
        </p:txBody>
      </p:sp>
      <p:sp>
        <p:nvSpPr>
          <p:cNvPr id="9" name="Rectangle 8">
            <a:extLst>
              <a:ext uri="{FF2B5EF4-FFF2-40B4-BE49-F238E27FC236}">
                <a16:creationId xmlns:a16="http://schemas.microsoft.com/office/drawing/2014/main" id="{12A382F6-1EA6-464A-BBDF-A4E2C18CD289}"/>
              </a:ext>
            </a:extLst>
          </p:cNvPr>
          <p:cNvSpPr/>
          <p:nvPr/>
        </p:nvSpPr>
        <p:spPr>
          <a:xfrm>
            <a:off x="6181726" y="5195490"/>
            <a:ext cx="5224507" cy="1569660"/>
          </a:xfrm>
          <a:prstGeom prst="rect">
            <a:avLst/>
          </a:prstGeom>
          <a:noFill/>
        </p:spPr>
        <p:txBody>
          <a:bodyPr wrap="none" lIns="91440" tIns="45720" rIns="91440" bIns="45720">
            <a:spAutoFit/>
          </a:bodyPr>
          <a:lstStyle/>
          <a:p>
            <a:pPr algn="ctr"/>
            <a:r>
              <a:rPr lang="en-US" sz="2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latin typeface="Avenir Next LT Pro" panose="020B0504020202020204" pitchFamily="34" charset="0"/>
              </a:rPr>
              <a:t>Group Number: 306</a:t>
            </a:r>
          </a:p>
          <a:p>
            <a:pPr algn="ctr"/>
            <a:r>
              <a:rPr lang="en-US" sz="2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latin typeface="Avenir Next LT Pro" panose="020B0504020202020204" pitchFamily="34" charset="0"/>
              </a:rPr>
              <a:t>Project Members:</a:t>
            </a:r>
          </a:p>
          <a:p>
            <a:pPr algn="ctr"/>
            <a:r>
              <a:rPr lang="en-US" sz="2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latin typeface="Avenir Next LT Pro" panose="020B0504020202020204" pitchFamily="34" charset="0"/>
              </a:rPr>
              <a:t>Abhishek Singh(A20447125)</a:t>
            </a:r>
          </a:p>
          <a:p>
            <a:pPr algn="ctr"/>
            <a:r>
              <a:rPr lang="en-US" sz="2400" b="1" cap="none" spc="0" dirty="0" err="1">
                <a:ln w="9525">
                  <a:solidFill>
                    <a:schemeClr val="bg1"/>
                  </a:solidFill>
                  <a:prstDash val="solid"/>
                </a:ln>
                <a:solidFill>
                  <a:schemeClr val="tx1"/>
                </a:solidFill>
                <a:effectLst>
                  <a:outerShdw blurRad="12700" dist="38100" dir="2700000" algn="tl" rotWithShape="0">
                    <a:schemeClr val="bg1">
                      <a:lumMod val="50000"/>
                    </a:schemeClr>
                  </a:outerShdw>
                </a:effectLst>
                <a:latin typeface="Avenir Next LT Pro" panose="020B0504020202020204" pitchFamily="34" charset="0"/>
              </a:rPr>
              <a:t>Megha</a:t>
            </a:r>
            <a:r>
              <a:rPr lang="en-US" sz="2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latin typeface="Avenir Next LT Pro" panose="020B0504020202020204" pitchFamily="34" charset="0"/>
              </a:rPr>
              <a:t> Shrivastava(A20450886) </a:t>
            </a:r>
          </a:p>
        </p:txBody>
      </p:sp>
    </p:spTree>
    <p:extLst>
      <p:ext uri="{BB962C8B-B14F-4D97-AF65-F5344CB8AC3E}">
        <p14:creationId xmlns:p14="http://schemas.microsoft.com/office/powerpoint/2010/main" val="1812404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174241-0849-4D3B-BF8C-6552EB2898EA}"/>
              </a:ext>
            </a:extLst>
          </p:cNvPr>
          <p:cNvSpPr>
            <a:spLocks noGrp="1"/>
          </p:cNvSpPr>
          <p:nvPr>
            <p:ph type="title"/>
          </p:nvPr>
        </p:nvSpPr>
        <p:spPr/>
        <p:txBody>
          <a:bodyPr/>
          <a:lstStyle/>
          <a:p>
            <a:r>
              <a:rPr lang="en-US" dirty="0"/>
              <a:t>ABOUT THE PROJECT</a:t>
            </a:r>
          </a:p>
        </p:txBody>
      </p:sp>
      <p:sp>
        <p:nvSpPr>
          <p:cNvPr id="3" name="Content Placeholder 2">
            <a:extLst>
              <a:ext uri="{FF2B5EF4-FFF2-40B4-BE49-F238E27FC236}">
                <a16:creationId xmlns:a16="http://schemas.microsoft.com/office/drawing/2014/main" id="{522168FB-CD15-4C07-8745-C8205CA73C3A}"/>
              </a:ext>
            </a:extLst>
          </p:cNvPr>
          <p:cNvSpPr>
            <a:spLocks noGrp="1"/>
          </p:cNvSpPr>
          <p:nvPr>
            <p:ph idx="1"/>
          </p:nvPr>
        </p:nvSpPr>
        <p:spPr>
          <a:xfrm>
            <a:off x="1261872" y="2140903"/>
            <a:ext cx="6024753" cy="4351337"/>
          </a:xfrm>
        </p:spPr>
        <p:txBody>
          <a:bodyPr/>
          <a:lstStyle/>
          <a:p>
            <a:pPr>
              <a:buFont typeface="Wingdings" panose="05000000000000000000" pitchFamily="2" charset="2"/>
              <a:buChar char="Ø"/>
            </a:pPr>
            <a:r>
              <a:rPr lang="en-US" dirty="0"/>
              <a:t>Loan Analysis is the method which gives the information whether a person will be able to pay the loan or not. </a:t>
            </a:r>
          </a:p>
          <a:p>
            <a:pPr>
              <a:buFont typeface="Wingdings" panose="05000000000000000000" pitchFamily="2" charset="2"/>
              <a:buChar char="Ø"/>
            </a:pPr>
            <a:r>
              <a:rPr lang="en-US" dirty="0"/>
              <a:t>Sometime the borrowers doesn’t pay the loan so the analysis of whether they are going to pay the loan will be very helpful. In this project, with the help of various models and their analysis we have checked whether a person will be able to pay the loan. </a:t>
            </a:r>
          </a:p>
          <a:p>
            <a:pPr>
              <a:buFont typeface="Wingdings" panose="05000000000000000000" pitchFamily="2" charset="2"/>
              <a:buChar char="Ø"/>
            </a:pPr>
            <a:r>
              <a:rPr lang="en-US" dirty="0"/>
              <a:t>The models in the project are built by considering 19 attributes. </a:t>
            </a:r>
          </a:p>
        </p:txBody>
      </p:sp>
      <p:pic>
        <p:nvPicPr>
          <p:cNvPr id="7" name="Picture 6">
            <a:extLst>
              <a:ext uri="{FF2B5EF4-FFF2-40B4-BE49-F238E27FC236}">
                <a16:creationId xmlns:a16="http://schemas.microsoft.com/office/drawing/2014/main" id="{B1DB17AF-BFB1-4302-AEF4-F13551481C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43036" y="2140903"/>
            <a:ext cx="3872663" cy="2943224"/>
          </a:xfrm>
          <a:prstGeom prst="rect">
            <a:avLst/>
          </a:prstGeom>
        </p:spPr>
      </p:pic>
    </p:spTree>
    <p:extLst>
      <p:ext uri="{BB962C8B-B14F-4D97-AF65-F5344CB8AC3E}">
        <p14:creationId xmlns:p14="http://schemas.microsoft.com/office/powerpoint/2010/main" val="569939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randombar(horizontal)">
                                      <p:cBhvr>
                                        <p:cTn id="12" dur="500"/>
                                        <p:tgtEl>
                                          <p:spTgt spid="3">
                                            <p:txEl>
                                              <p:pRg st="0" end="0"/>
                                            </p:txEl>
                                          </p:spTgt>
                                        </p:tgtEl>
                                      </p:cBhvr>
                                    </p:animEffect>
                                  </p:childTnLst>
                                </p:cTn>
                              </p:par>
                              <p:par>
                                <p:cTn id="13" presetID="14" presetClass="entr" presetSubtype="10" fill="hold" grpId="0"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5" dur="500"/>
                                        <p:tgtEl>
                                          <p:spTgt spid="3">
                                            <p:txEl>
                                              <p:pRg st="1" end="1"/>
                                            </p:txEl>
                                          </p:spTgt>
                                        </p:tgtEl>
                                      </p:cBhvr>
                                    </p:animEffect>
                                  </p:childTnLst>
                                </p:cTn>
                              </p:par>
                              <p:par>
                                <p:cTn id="16" presetID="14" presetClass="entr" presetSubtype="10" fill="hold" grpId="0"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8" dur="500"/>
                                        <p:tgtEl>
                                          <p:spTgt spid="3">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p:cTn id="23" dur="1000" fill="hold"/>
                                        <p:tgtEl>
                                          <p:spTgt spid="7"/>
                                        </p:tgtEl>
                                        <p:attrNameLst>
                                          <p:attrName>ppt_w</p:attrName>
                                        </p:attrNameLst>
                                      </p:cBhvr>
                                      <p:tavLst>
                                        <p:tav tm="0">
                                          <p:val>
                                            <p:fltVal val="0"/>
                                          </p:val>
                                        </p:tav>
                                        <p:tav tm="100000">
                                          <p:val>
                                            <p:strVal val="#ppt_w"/>
                                          </p:val>
                                        </p:tav>
                                      </p:tavLst>
                                    </p:anim>
                                    <p:anim calcmode="lin" valueType="num">
                                      <p:cBhvr>
                                        <p:cTn id="24" dur="1000" fill="hold"/>
                                        <p:tgtEl>
                                          <p:spTgt spid="7"/>
                                        </p:tgtEl>
                                        <p:attrNameLst>
                                          <p:attrName>ppt_h</p:attrName>
                                        </p:attrNameLst>
                                      </p:cBhvr>
                                      <p:tavLst>
                                        <p:tav tm="0">
                                          <p:val>
                                            <p:fltVal val="0"/>
                                          </p:val>
                                        </p:tav>
                                        <p:tav tm="100000">
                                          <p:val>
                                            <p:strVal val="#ppt_h"/>
                                          </p:val>
                                        </p:tav>
                                      </p:tavLst>
                                    </p:anim>
                                    <p:anim calcmode="lin" valueType="num">
                                      <p:cBhvr>
                                        <p:cTn id="25" dur="1000" fill="hold"/>
                                        <p:tgtEl>
                                          <p:spTgt spid="7"/>
                                        </p:tgtEl>
                                        <p:attrNameLst>
                                          <p:attrName>style.rotation</p:attrName>
                                        </p:attrNameLst>
                                      </p:cBhvr>
                                      <p:tavLst>
                                        <p:tav tm="0">
                                          <p:val>
                                            <p:fltVal val="90"/>
                                          </p:val>
                                        </p:tav>
                                        <p:tav tm="100000">
                                          <p:val>
                                            <p:fltVal val="0"/>
                                          </p:val>
                                        </p:tav>
                                      </p:tavLst>
                                    </p:anim>
                                    <p:animEffect transition="in" filter="fade">
                                      <p:cBhvr>
                                        <p:cTn id="26"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174241-0849-4D3B-BF8C-6552EB2898EA}"/>
              </a:ext>
            </a:extLst>
          </p:cNvPr>
          <p:cNvSpPr>
            <a:spLocks noGrp="1"/>
          </p:cNvSpPr>
          <p:nvPr>
            <p:ph type="title"/>
          </p:nvPr>
        </p:nvSpPr>
        <p:spPr>
          <a:xfrm>
            <a:off x="1261872" y="359134"/>
            <a:ext cx="9692640" cy="1325562"/>
          </a:xfrm>
        </p:spPr>
        <p:txBody>
          <a:bodyPr/>
          <a:lstStyle/>
          <a:p>
            <a:r>
              <a:rPr lang="en-US" dirty="0"/>
              <a:t>SYSTEM FLOW OF THE PROJECT</a:t>
            </a:r>
          </a:p>
        </p:txBody>
      </p:sp>
      <p:sp>
        <p:nvSpPr>
          <p:cNvPr id="4" name="Rectangle 3">
            <a:extLst>
              <a:ext uri="{FF2B5EF4-FFF2-40B4-BE49-F238E27FC236}">
                <a16:creationId xmlns:a16="http://schemas.microsoft.com/office/drawing/2014/main" id="{D4DC7BBE-C19E-4420-B86D-C7B7DD518BA6}"/>
              </a:ext>
            </a:extLst>
          </p:cNvPr>
          <p:cNvSpPr/>
          <p:nvPr/>
        </p:nvSpPr>
        <p:spPr>
          <a:xfrm>
            <a:off x="1261872" y="1828800"/>
            <a:ext cx="2028825" cy="1123950"/>
          </a:xfrm>
          <a:prstGeom prst="rect">
            <a:avLst/>
          </a:prstGeom>
        </p:spPr>
        <p:style>
          <a:lnRef idx="3">
            <a:schemeClr val="lt1"/>
          </a:lnRef>
          <a:fillRef idx="1">
            <a:schemeClr val="dk1"/>
          </a:fillRef>
          <a:effectRef idx="1">
            <a:schemeClr val="dk1"/>
          </a:effectRef>
          <a:fontRef idx="minor">
            <a:schemeClr val="lt1"/>
          </a:fontRef>
        </p:style>
        <p:txBody>
          <a:bodyPr rtlCol="0" anchor="ctr"/>
          <a:lstStyle/>
          <a:p>
            <a:pPr algn="ctr"/>
            <a:r>
              <a:rPr lang="en-US" dirty="0"/>
              <a:t>DATA COLLECTION</a:t>
            </a:r>
          </a:p>
        </p:txBody>
      </p:sp>
      <p:sp>
        <p:nvSpPr>
          <p:cNvPr id="5" name="Rectangle 4">
            <a:extLst>
              <a:ext uri="{FF2B5EF4-FFF2-40B4-BE49-F238E27FC236}">
                <a16:creationId xmlns:a16="http://schemas.microsoft.com/office/drawing/2014/main" id="{9B939167-0588-401B-A5A9-5208627FD3BD}"/>
              </a:ext>
            </a:extLst>
          </p:cNvPr>
          <p:cNvSpPr/>
          <p:nvPr/>
        </p:nvSpPr>
        <p:spPr>
          <a:xfrm>
            <a:off x="4327778" y="1828800"/>
            <a:ext cx="2028825" cy="1123950"/>
          </a:xfrm>
          <a:prstGeom prst="rect">
            <a:avLst/>
          </a:prstGeom>
        </p:spPr>
        <p:style>
          <a:lnRef idx="3">
            <a:schemeClr val="lt1"/>
          </a:lnRef>
          <a:fillRef idx="1">
            <a:schemeClr val="dk1"/>
          </a:fillRef>
          <a:effectRef idx="1">
            <a:schemeClr val="dk1"/>
          </a:effectRef>
          <a:fontRef idx="minor">
            <a:schemeClr val="lt1"/>
          </a:fontRef>
        </p:style>
        <p:txBody>
          <a:bodyPr rtlCol="0" anchor="ctr"/>
          <a:lstStyle/>
          <a:p>
            <a:pPr algn="ctr"/>
            <a:r>
              <a:rPr lang="en-US" dirty="0"/>
              <a:t>PRE-PROCESSING OF DATA </a:t>
            </a:r>
          </a:p>
        </p:txBody>
      </p:sp>
      <p:sp>
        <p:nvSpPr>
          <p:cNvPr id="6" name="Rectangle 5">
            <a:extLst>
              <a:ext uri="{FF2B5EF4-FFF2-40B4-BE49-F238E27FC236}">
                <a16:creationId xmlns:a16="http://schemas.microsoft.com/office/drawing/2014/main" id="{5F922411-702A-461A-9B4A-F41BE582BEA7}"/>
              </a:ext>
            </a:extLst>
          </p:cNvPr>
          <p:cNvSpPr/>
          <p:nvPr/>
        </p:nvSpPr>
        <p:spPr>
          <a:xfrm>
            <a:off x="7025830" y="1828800"/>
            <a:ext cx="2028825" cy="1123950"/>
          </a:xfrm>
          <a:prstGeom prst="rect">
            <a:avLst/>
          </a:prstGeom>
        </p:spPr>
        <p:style>
          <a:lnRef idx="3">
            <a:schemeClr val="lt1"/>
          </a:lnRef>
          <a:fillRef idx="1">
            <a:schemeClr val="dk1"/>
          </a:fillRef>
          <a:effectRef idx="1">
            <a:schemeClr val="dk1"/>
          </a:effectRef>
          <a:fontRef idx="minor">
            <a:schemeClr val="lt1"/>
          </a:fontRef>
        </p:style>
        <p:txBody>
          <a:bodyPr rtlCol="0" anchor="ctr"/>
          <a:lstStyle/>
          <a:p>
            <a:pPr algn="ctr"/>
            <a:r>
              <a:rPr lang="en-US" dirty="0"/>
              <a:t>MODEL SELECTION</a:t>
            </a:r>
          </a:p>
        </p:txBody>
      </p:sp>
      <p:sp>
        <p:nvSpPr>
          <p:cNvPr id="7" name="Rectangle 6">
            <a:extLst>
              <a:ext uri="{FF2B5EF4-FFF2-40B4-BE49-F238E27FC236}">
                <a16:creationId xmlns:a16="http://schemas.microsoft.com/office/drawing/2014/main" id="{F33CBD74-C8C9-4C62-B3AD-9ED8656E9605}"/>
              </a:ext>
            </a:extLst>
          </p:cNvPr>
          <p:cNvSpPr/>
          <p:nvPr/>
        </p:nvSpPr>
        <p:spPr>
          <a:xfrm>
            <a:off x="7828407" y="3442493"/>
            <a:ext cx="2028825" cy="1123950"/>
          </a:xfrm>
          <a:prstGeom prst="rect">
            <a:avLst/>
          </a:prstGeom>
        </p:spPr>
        <p:style>
          <a:lnRef idx="3">
            <a:schemeClr val="lt1"/>
          </a:lnRef>
          <a:fillRef idx="1">
            <a:schemeClr val="dk1"/>
          </a:fillRef>
          <a:effectRef idx="1">
            <a:schemeClr val="dk1"/>
          </a:effectRef>
          <a:fontRef idx="minor">
            <a:schemeClr val="lt1"/>
          </a:fontRef>
        </p:style>
        <p:txBody>
          <a:bodyPr rtlCol="0" anchor="ctr"/>
          <a:lstStyle/>
          <a:p>
            <a:pPr algn="ctr"/>
            <a:r>
              <a:rPr lang="en-US" dirty="0"/>
              <a:t>BUILDING THE MODEL</a:t>
            </a:r>
          </a:p>
        </p:txBody>
      </p:sp>
      <p:sp>
        <p:nvSpPr>
          <p:cNvPr id="8" name="Rectangle 7">
            <a:extLst>
              <a:ext uri="{FF2B5EF4-FFF2-40B4-BE49-F238E27FC236}">
                <a16:creationId xmlns:a16="http://schemas.microsoft.com/office/drawing/2014/main" id="{9E79086E-94B0-49E0-90BE-FC76E9E5BB2A}"/>
              </a:ext>
            </a:extLst>
          </p:cNvPr>
          <p:cNvSpPr/>
          <p:nvPr/>
        </p:nvSpPr>
        <p:spPr>
          <a:xfrm>
            <a:off x="6450139" y="5056186"/>
            <a:ext cx="2028825" cy="1123950"/>
          </a:xfrm>
          <a:prstGeom prst="rect">
            <a:avLst/>
          </a:prstGeom>
        </p:spPr>
        <p:style>
          <a:lnRef idx="3">
            <a:schemeClr val="lt1"/>
          </a:lnRef>
          <a:fillRef idx="1">
            <a:schemeClr val="dk1"/>
          </a:fillRef>
          <a:effectRef idx="1">
            <a:schemeClr val="dk1"/>
          </a:effectRef>
          <a:fontRef idx="minor">
            <a:schemeClr val="lt1"/>
          </a:fontRef>
        </p:style>
        <p:txBody>
          <a:bodyPr rtlCol="0" anchor="ctr"/>
          <a:lstStyle/>
          <a:p>
            <a:pPr algn="ctr"/>
            <a:r>
              <a:rPr lang="en-US" dirty="0"/>
              <a:t>EVALUATION</a:t>
            </a:r>
          </a:p>
        </p:txBody>
      </p:sp>
      <p:sp>
        <p:nvSpPr>
          <p:cNvPr id="9" name="Rectangle 8">
            <a:extLst>
              <a:ext uri="{FF2B5EF4-FFF2-40B4-BE49-F238E27FC236}">
                <a16:creationId xmlns:a16="http://schemas.microsoft.com/office/drawing/2014/main" id="{D24B8980-BCF7-4224-9365-95A13BC192CE}"/>
              </a:ext>
            </a:extLst>
          </p:cNvPr>
          <p:cNvSpPr/>
          <p:nvPr/>
        </p:nvSpPr>
        <p:spPr>
          <a:xfrm>
            <a:off x="3349180" y="5056186"/>
            <a:ext cx="2028825" cy="1123950"/>
          </a:xfrm>
          <a:prstGeom prst="rect">
            <a:avLst/>
          </a:prstGeom>
        </p:spPr>
        <p:style>
          <a:lnRef idx="3">
            <a:schemeClr val="lt1"/>
          </a:lnRef>
          <a:fillRef idx="1">
            <a:schemeClr val="dk1"/>
          </a:fillRef>
          <a:effectRef idx="1">
            <a:schemeClr val="dk1"/>
          </a:effectRef>
          <a:fontRef idx="minor">
            <a:schemeClr val="lt1"/>
          </a:fontRef>
        </p:style>
        <p:txBody>
          <a:bodyPr rtlCol="0" anchor="ctr"/>
          <a:lstStyle/>
          <a:p>
            <a:pPr algn="ctr"/>
            <a:r>
              <a:rPr lang="en-US" dirty="0"/>
              <a:t>RESULT</a:t>
            </a:r>
          </a:p>
        </p:txBody>
      </p:sp>
      <p:cxnSp>
        <p:nvCxnSpPr>
          <p:cNvPr id="13" name="Straight Arrow Connector 12">
            <a:extLst>
              <a:ext uri="{FF2B5EF4-FFF2-40B4-BE49-F238E27FC236}">
                <a16:creationId xmlns:a16="http://schemas.microsoft.com/office/drawing/2014/main" id="{AD9C5C0A-DA16-45F8-997A-248B9C69CF52}"/>
              </a:ext>
            </a:extLst>
          </p:cNvPr>
          <p:cNvCxnSpPr>
            <a:stCxn id="4" idx="3"/>
          </p:cNvCxnSpPr>
          <p:nvPr/>
        </p:nvCxnSpPr>
        <p:spPr>
          <a:xfrm>
            <a:off x="3290697" y="2390775"/>
            <a:ext cx="1037081"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16" name="Straight Arrow Connector 15">
            <a:extLst>
              <a:ext uri="{FF2B5EF4-FFF2-40B4-BE49-F238E27FC236}">
                <a16:creationId xmlns:a16="http://schemas.microsoft.com/office/drawing/2014/main" id="{2E1B1A3C-EAB3-4739-B536-B5C385FB3347}"/>
              </a:ext>
            </a:extLst>
          </p:cNvPr>
          <p:cNvCxnSpPr>
            <a:stCxn id="5" idx="3"/>
            <a:endCxn id="6" idx="1"/>
          </p:cNvCxnSpPr>
          <p:nvPr/>
        </p:nvCxnSpPr>
        <p:spPr>
          <a:xfrm>
            <a:off x="6356603" y="2390775"/>
            <a:ext cx="669227"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18" name="Straight Connector 17">
            <a:extLst>
              <a:ext uri="{FF2B5EF4-FFF2-40B4-BE49-F238E27FC236}">
                <a16:creationId xmlns:a16="http://schemas.microsoft.com/office/drawing/2014/main" id="{E2B786A7-96EF-4DC5-8582-95ED384F8694}"/>
              </a:ext>
            </a:extLst>
          </p:cNvPr>
          <p:cNvCxnSpPr>
            <a:stCxn id="6" idx="3"/>
          </p:cNvCxnSpPr>
          <p:nvPr/>
        </p:nvCxnSpPr>
        <p:spPr>
          <a:xfrm>
            <a:off x="9054655" y="2390775"/>
            <a:ext cx="394145"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20" name="Straight Arrow Connector 19">
            <a:extLst>
              <a:ext uri="{FF2B5EF4-FFF2-40B4-BE49-F238E27FC236}">
                <a16:creationId xmlns:a16="http://schemas.microsoft.com/office/drawing/2014/main" id="{182D6BF4-CA1A-4370-8746-880A40B7CA05}"/>
              </a:ext>
            </a:extLst>
          </p:cNvPr>
          <p:cNvCxnSpPr/>
          <p:nvPr/>
        </p:nvCxnSpPr>
        <p:spPr>
          <a:xfrm>
            <a:off x="9439275" y="2390775"/>
            <a:ext cx="0" cy="1051718"/>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22" name="Straight Connector 21">
            <a:extLst>
              <a:ext uri="{FF2B5EF4-FFF2-40B4-BE49-F238E27FC236}">
                <a16:creationId xmlns:a16="http://schemas.microsoft.com/office/drawing/2014/main" id="{B3849F43-97A8-471A-8F2E-97205A4CF2BF}"/>
              </a:ext>
            </a:extLst>
          </p:cNvPr>
          <p:cNvCxnSpPr/>
          <p:nvPr/>
        </p:nvCxnSpPr>
        <p:spPr>
          <a:xfrm>
            <a:off x="9439275" y="4566443"/>
            <a:ext cx="9525" cy="1051718"/>
          </a:xfrm>
          <a:prstGeom prst="line">
            <a:avLst/>
          </a:prstGeom>
        </p:spPr>
        <p:style>
          <a:lnRef idx="2">
            <a:schemeClr val="accent2"/>
          </a:lnRef>
          <a:fillRef idx="0">
            <a:schemeClr val="accent2"/>
          </a:fillRef>
          <a:effectRef idx="1">
            <a:schemeClr val="accent2"/>
          </a:effectRef>
          <a:fontRef idx="minor">
            <a:schemeClr val="tx1"/>
          </a:fontRef>
        </p:style>
      </p:cxnSp>
      <p:cxnSp>
        <p:nvCxnSpPr>
          <p:cNvPr id="24" name="Straight Arrow Connector 23">
            <a:extLst>
              <a:ext uri="{FF2B5EF4-FFF2-40B4-BE49-F238E27FC236}">
                <a16:creationId xmlns:a16="http://schemas.microsoft.com/office/drawing/2014/main" id="{D230B22B-E177-4C1E-96DA-DF9DA1AA46C2}"/>
              </a:ext>
            </a:extLst>
          </p:cNvPr>
          <p:cNvCxnSpPr/>
          <p:nvPr/>
        </p:nvCxnSpPr>
        <p:spPr>
          <a:xfrm flipH="1">
            <a:off x="8478964" y="5618161"/>
            <a:ext cx="969836"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26" name="Straight Arrow Connector 25">
            <a:extLst>
              <a:ext uri="{FF2B5EF4-FFF2-40B4-BE49-F238E27FC236}">
                <a16:creationId xmlns:a16="http://schemas.microsoft.com/office/drawing/2014/main" id="{F1711961-57E6-4C07-A972-CD6E15B1FC2B}"/>
              </a:ext>
            </a:extLst>
          </p:cNvPr>
          <p:cNvCxnSpPr>
            <a:stCxn id="8" idx="1"/>
          </p:cNvCxnSpPr>
          <p:nvPr/>
        </p:nvCxnSpPr>
        <p:spPr>
          <a:xfrm flipH="1">
            <a:off x="5378005" y="5618161"/>
            <a:ext cx="1072134"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31" name="TextBox 30">
            <a:extLst>
              <a:ext uri="{FF2B5EF4-FFF2-40B4-BE49-F238E27FC236}">
                <a16:creationId xmlns:a16="http://schemas.microsoft.com/office/drawing/2014/main" id="{179BB078-1C30-47FC-87AB-56C03E441B04}"/>
              </a:ext>
            </a:extLst>
          </p:cNvPr>
          <p:cNvSpPr txBox="1"/>
          <p:nvPr/>
        </p:nvSpPr>
        <p:spPr>
          <a:xfrm>
            <a:off x="1442858" y="3298390"/>
            <a:ext cx="1666852" cy="369332"/>
          </a:xfrm>
          <a:prstGeom prst="rect">
            <a:avLst/>
          </a:prstGeom>
          <a:noFill/>
        </p:spPr>
        <p:txBody>
          <a:bodyPr wrap="square" rtlCol="0">
            <a:spAutoFit/>
          </a:bodyPr>
          <a:lstStyle/>
          <a:p>
            <a:r>
              <a:rPr lang="en-US" dirty="0"/>
              <a:t>KAGGLE</a:t>
            </a:r>
          </a:p>
        </p:txBody>
      </p:sp>
      <p:sp>
        <p:nvSpPr>
          <p:cNvPr id="34" name="TextBox 33">
            <a:extLst>
              <a:ext uri="{FF2B5EF4-FFF2-40B4-BE49-F238E27FC236}">
                <a16:creationId xmlns:a16="http://schemas.microsoft.com/office/drawing/2014/main" id="{B8A05E85-28C6-48ED-A334-66E7F8F0CC31}"/>
              </a:ext>
            </a:extLst>
          </p:cNvPr>
          <p:cNvSpPr txBox="1"/>
          <p:nvPr/>
        </p:nvSpPr>
        <p:spPr>
          <a:xfrm>
            <a:off x="4312380" y="3207791"/>
            <a:ext cx="2494344" cy="646331"/>
          </a:xfrm>
          <a:prstGeom prst="rect">
            <a:avLst/>
          </a:prstGeom>
          <a:noFill/>
        </p:spPr>
        <p:txBody>
          <a:bodyPr wrap="square" rtlCol="0">
            <a:spAutoFit/>
          </a:bodyPr>
          <a:lstStyle/>
          <a:p>
            <a:r>
              <a:rPr lang="en-US" dirty="0"/>
              <a:t>Missing Values, Dummy Variables</a:t>
            </a:r>
          </a:p>
        </p:txBody>
      </p:sp>
      <p:cxnSp>
        <p:nvCxnSpPr>
          <p:cNvPr id="36" name="Straight Arrow Connector 35">
            <a:extLst>
              <a:ext uri="{FF2B5EF4-FFF2-40B4-BE49-F238E27FC236}">
                <a16:creationId xmlns:a16="http://schemas.microsoft.com/office/drawing/2014/main" id="{0370DD2D-6883-4E0E-AED1-E248C7EAD904}"/>
              </a:ext>
            </a:extLst>
          </p:cNvPr>
          <p:cNvCxnSpPr/>
          <p:nvPr/>
        </p:nvCxnSpPr>
        <p:spPr>
          <a:xfrm flipV="1">
            <a:off x="2161793" y="2952750"/>
            <a:ext cx="0" cy="43952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38" name="Straight Arrow Connector 37">
            <a:extLst>
              <a:ext uri="{FF2B5EF4-FFF2-40B4-BE49-F238E27FC236}">
                <a16:creationId xmlns:a16="http://schemas.microsoft.com/office/drawing/2014/main" id="{6CCB0EFC-8CD1-4C87-8013-90EB781F4BA8}"/>
              </a:ext>
            </a:extLst>
          </p:cNvPr>
          <p:cNvCxnSpPr>
            <a:endCxn id="5" idx="2"/>
          </p:cNvCxnSpPr>
          <p:nvPr/>
        </p:nvCxnSpPr>
        <p:spPr>
          <a:xfrm flipV="1">
            <a:off x="5342190" y="2952750"/>
            <a:ext cx="1" cy="34564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pic>
        <p:nvPicPr>
          <p:cNvPr id="39" name="Picture 38">
            <a:extLst>
              <a:ext uri="{FF2B5EF4-FFF2-40B4-BE49-F238E27FC236}">
                <a16:creationId xmlns:a16="http://schemas.microsoft.com/office/drawing/2014/main" id="{A2ABF8B7-5577-418F-9163-97196B4137CA}"/>
              </a:ext>
            </a:extLst>
          </p:cNvPr>
          <p:cNvPicPr>
            <a:picLocks noChangeAspect="1"/>
          </p:cNvPicPr>
          <p:nvPr/>
        </p:nvPicPr>
        <p:blipFill>
          <a:blip r:embed="rId2"/>
          <a:stretch>
            <a:fillRect/>
          </a:stretch>
        </p:blipFill>
        <p:spPr>
          <a:xfrm>
            <a:off x="378777" y="4276725"/>
            <a:ext cx="2359842" cy="1903411"/>
          </a:xfrm>
          <a:prstGeom prst="rect">
            <a:avLst/>
          </a:prstGeom>
        </p:spPr>
      </p:pic>
    </p:spTree>
    <p:extLst>
      <p:ext uri="{BB962C8B-B14F-4D97-AF65-F5344CB8AC3E}">
        <p14:creationId xmlns:p14="http://schemas.microsoft.com/office/powerpoint/2010/main" val="4016793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9"/>
                                        </p:tgtEl>
                                        <p:attrNameLst>
                                          <p:attrName>style.visibility</p:attrName>
                                        </p:attrNameLst>
                                      </p:cBhvr>
                                      <p:to>
                                        <p:strVal val="visible"/>
                                      </p:to>
                                    </p:set>
                                    <p:animEffect transition="in" filter="fade">
                                      <p:cBhvr>
                                        <p:cTn id="12" dur="1000"/>
                                        <p:tgtEl>
                                          <p:spTgt spid="39"/>
                                        </p:tgtEl>
                                      </p:cBhvr>
                                    </p:animEffect>
                                    <p:anim calcmode="lin" valueType="num">
                                      <p:cBhvr>
                                        <p:cTn id="13" dur="1000" fill="hold"/>
                                        <p:tgtEl>
                                          <p:spTgt spid="39"/>
                                        </p:tgtEl>
                                        <p:attrNameLst>
                                          <p:attrName>ppt_x</p:attrName>
                                        </p:attrNameLst>
                                      </p:cBhvr>
                                      <p:tavLst>
                                        <p:tav tm="0">
                                          <p:val>
                                            <p:strVal val="#ppt_x"/>
                                          </p:val>
                                        </p:tav>
                                        <p:tav tm="100000">
                                          <p:val>
                                            <p:strVal val="#ppt_x"/>
                                          </p:val>
                                        </p:tav>
                                      </p:tavLst>
                                    </p:anim>
                                    <p:anim calcmode="lin" valueType="num">
                                      <p:cBhvr>
                                        <p:cTn id="14" dur="1000" fill="hold"/>
                                        <p:tgtEl>
                                          <p:spTgt spid="3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174241-0849-4D3B-BF8C-6552EB2898EA}"/>
              </a:ext>
            </a:extLst>
          </p:cNvPr>
          <p:cNvSpPr>
            <a:spLocks noGrp="1"/>
          </p:cNvSpPr>
          <p:nvPr>
            <p:ph type="title"/>
          </p:nvPr>
        </p:nvSpPr>
        <p:spPr/>
        <p:txBody>
          <a:bodyPr/>
          <a:lstStyle/>
          <a:p>
            <a:r>
              <a:rPr lang="en-US" dirty="0"/>
              <a:t>DATASET</a:t>
            </a:r>
          </a:p>
        </p:txBody>
      </p:sp>
      <p:sp>
        <p:nvSpPr>
          <p:cNvPr id="3" name="Content Placeholder 2">
            <a:extLst>
              <a:ext uri="{FF2B5EF4-FFF2-40B4-BE49-F238E27FC236}">
                <a16:creationId xmlns:a16="http://schemas.microsoft.com/office/drawing/2014/main" id="{522168FB-CD15-4C07-8745-C8205CA73C3A}"/>
              </a:ext>
            </a:extLst>
          </p:cNvPr>
          <p:cNvSpPr>
            <a:spLocks noGrp="1"/>
          </p:cNvSpPr>
          <p:nvPr>
            <p:ph idx="1"/>
          </p:nvPr>
        </p:nvSpPr>
        <p:spPr>
          <a:xfrm>
            <a:off x="1261872" y="1828800"/>
            <a:ext cx="6405753" cy="4351337"/>
          </a:xfrm>
        </p:spPr>
        <p:txBody>
          <a:bodyPr/>
          <a:lstStyle/>
          <a:p>
            <a:r>
              <a:rPr lang="en-US" dirty="0"/>
              <a:t>The dataset was found on Kaggle, containing of approx. 19 columns and 99981 records. </a:t>
            </a:r>
          </a:p>
          <a:p>
            <a:r>
              <a:rPr lang="en-US" dirty="0"/>
              <a:t>The dataset contains the csv file credit_train.csv which has the independent as well as the dependent variables. </a:t>
            </a:r>
          </a:p>
          <a:p>
            <a:r>
              <a:rPr lang="en-US" dirty="0"/>
              <a:t>The dataset was found: </a:t>
            </a:r>
            <a:r>
              <a:rPr lang="en-US" u="sng" dirty="0">
                <a:hlinkClick r:id="rId2"/>
              </a:rPr>
              <a:t>https://www.kaggle.com/zaurbegiev/my-dataset</a:t>
            </a:r>
            <a:endParaRPr lang="en-US" dirty="0"/>
          </a:p>
          <a:p>
            <a:r>
              <a:rPr lang="en-US" dirty="0"/>
              <a:t>From the data, the loan status is considered as the independent variable and remaining all the variables are considered as dependent variable. </a:t>
            </a:r>
          </a:p>
        </p:txBody>
      </p:sp>
      <p:pic>
        <p:nvPicPr>
          <p:cNvPr id="14" name="Picture 13">
            <a:extLst>
              <a:ext uri="{FF2B5EF4-FFF2-40B4-BE49-F238E27FC236}">
                <a16:creationId xmlns:a16="http://schemas.microsoft.com/office/drawing/2014/main" id="{90FE747D-748B-486A-9DF8-1119DB6C7851}"/>
              </a:ext>
            </a:extLst>
          </p:cNvPr>
          <p:cNvPicPr>
            <a:picLocks noChangeAspect="1"/>
          </p:cNvPicPr>
          <p:nvPr/>
        </p:nvPicPr>
        <p:blipFill>
          <a:blip r:embed="rId3"/>
          <a:stretch>
            <a:fillRect/>
          </a:stretch>
        </p:blipFill>
        <p:spPr>
          <a:xfrm>
            <a:off x="7781924" y="2178650"/>
            <a:ext cx="3513533" cy="2279049"/>
          </a:xfrm>
          <a:prstGeom prst="rect">
            <a:avLst/>
          </a:prstGeom>
        </p:spPr>
      </p:pic>
    </p:spTree>
    <p:extLst>
      <p:ext uri="{BB962C8B-B14F-4D97-AF65-F5344CB8AC3E}">
        <p14:creationId xmlns:p14="http://schemas.microsoft.com/office/powerpoint/2010/main" val="1331463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barn(inVertical)">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17" dur="500"/>
                                        <p:tgtEl>
                                          <p:spTgt spid="3">
                                            <p:txEl>
                                              <p:pRg st="0" end="0"/>
                                            </p:txEl>
                                          </p:spTgt>
                                        </p:tgtEl>
                                      </p:cBhvr>
                                    </p:animEffect>
                                  </p:childTnLst>
                                </p:cTn>
                              </p:par>
                              <p:par>
                                <p:cTn id="18" presetID="14" presetClass="entr" presetSubtype="10" fill="hold" grpId="0" nodeType="with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randombar(horizontal)">
                                      <p:cBhvr>
                                        <p:cTn id="20" dur="500"/>
                                        <p:tgtEl>
                                          <p:spTgt spid="3">
                                            <p:txEl>
                                              <p:pRg st="1" end="1"/>
                                            </p:txEl>
                                          </p:spTgt>
                                        </p:tgtEl>
                                      </p:cBhvr>
                                    </p:animEffect>
                                  </p:childTnLst>
                                </p:cTn>
                              </p:par>
                              <p:par>
                                <p:cTn id="21" presetID="14" presetClass="entr" presetSubtype="10" fill="hold" grpId="0"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randombar(horizontal)">
                                      <p:cBhvr>
                                        <p:cTn id="23" dur="500"/>
                                        <p:tgtEl>
                                          <p:spTgt spid="3">
                                            <p:txEl>
                                              <p:pRg st="2" end="2"/>
                                            </p:txEl>
                                          </p:spTgt>
                                        </p:tgtEl>
                                      </p:cBhvr>
                                    </p:animEffect>
                                  </p:childTnLst>
                                </p:cTn>
                              </p:par>
                              <p:par>
                                <p:cTn id="24" presetID="14" presetClass="entr" presetSubtype="10" fill="hold" grpId="0" nodeType="with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randombar(horizontal)">
                                      <p:cBhvr>
                                        <p:cTn id="26"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174241-0849-4D3B-BF8C-6552EB2898EA}"/>
              </a:ext>
            </a:extLst>
          </p:cNvPr>
          <p:cNvSpPr>
            <a:spLocks noGrp="1"/>
          </p:cNvSpPr>
          <p:nvPr>
            <p:ph type="title"/>
          </p:nvPr>
        </p:nvSpPr>
        <p:spPr/>
        <p:txBody>
          <a:bodyPr/>
          <a:lstStyle/>
          <a:p>
            <a:r>
              <a:rPr lang="en-US" dirty="0"/>
              <a:t>DATA UNDERSTANDING</a:t>
            </a:r>
          </a:p>
        </p:txBody>
      </p:sp>
      <p:sp>
        <p:nvSpPr>
          <p:cNvPr id="3" name="Content Placeholder 2">
            <a:extLst>
              <a:ext uri="{FF2B5EF4-FFF2-40B4-BE49-F238E27FC236}">
                <a16:creationId xmlns:a16="http://schemas.microsoft.com/office/drawing/2014/main" id="{522168FB-CD15-4C07-8745-C8205CA73C3A}"/>
              </a:ext>
            </a:extLst>
          </p:cNvPr>
          <p:cNvSpPr>
            <a:spLocks noGrp="1"/>
          </p:cNvSpPr>
          <p:nvPr>
            <p:ph idx="1"/>
          </p:nvPr>
        </p:nvSpPr>
        <p:spPr>
          <a:xfrm>
            <a:off x="1261872" y="2305050"/>
            <a:ext cx="6577203" cy="4351337"/>
          </a:xfrm>
        </p:spPr>
        <p:txBody>
          <a:bodyPr/>
          <a:lstStyle/>
          <a:p>
            <a:r>
              <a:rPr lang="en-US" dirty="0"/>
              <a:t>The data consist of 19 attributes which are further classified as qualitative and quantitative data. </a:t>
            </a:r>
          </a:p>
          <a:p>
            <a:r>
              <a:rPr lang="en-US" dirty="0"/>
              <a:t>From the data, the 6 attributes are Qualitative data and 13 attributes are Quantitative data. </a:t>
            </a:r>
          </a:p>
          <a:p>
            <a:r>
              <a:rPr lang="en-US" dirty="0"/>
              <a:t>Also, the data is converted according to the requirement of the model.</a:t>
            </a:r>
          </a:p>
        </p:txBody>
      </p:sp>
      <p:pic>
        <p:nvPicPr>
          <p:cNvPr id="5" name="Graphic 4" descr="Questions">
            <a:extLst>
              <a:ext uri="{FF2B5EF4-FFF2-40B4-BE49-F238E27FC236}">
                <a16:creationId xmlns:a16="http://schemas.microsoft.com/office/drawing/2014/main" id="{C2275BED-DC46-4059-90EE-418F97D90BE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10753" y="2158999"/>
            <a:ext cx="2719197" cy="2719197"/>
          </a:xfrm>
          <a:prstGeom prst="rect">
            <a:avLst/>
          </a:prstGeom>
        </p:spPr>
      </p:pic>
    </p:spTree>
    <p:extLst>
      <p:ext uri="{BB962C8B-B14F-4D97-AF65-F5344CB8AC3E}">
        <p14:creationId xmlns:p14="http://schemas.microsoft.com/office/powerpoint/2010/main" val="479014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randombar(horizontal)">
                                      <p:cBhvr>
                                        <p:cTn id="12" dur="500"/>
                                        <p:tgtEl>
                                          <p:spTgt spid="3">
                                            <p:txEl>
                                              <p:pRg st="0" end="0"/>
                                            </p:txEl>
                                          </p:spTgt>
                                        </p:tgtEl>
                                      </p:cBhvr>
                                    </p:animEffect>
                                  </p:childTnLst>
                                </p:cTn>
                              </p:par>
                              <p:par>
                                <p:cTn id="13" presetID="14" presetClass="entr" presetSubtype="10" fill="hold" grpId="0"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5" dur="500"/>
                                        <p:tgtEl>
                                          <p:spTgt spid="3">
                                            <p:txEl>
                                              <p:pRg st="1" end="1"/>
                                            </p:txEl>
                                          </p:spTgt>
                                        </p:tgtEl>
                                      </p:cBhvr>
                                    </p:animEffect>
                                  </p:childTnLst>
                                </p:cTn>
                              </p:par>
                              <p:par>
                                <p:cTn id="16" presetID="14" presetClass="entr" presetSubtype="10" fill="hold" grpId="0"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8" dur="500"/>
                                        <p:tgtEl>
                                          <p:spTgt spid="3">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barn(inVertical)">
                                      <p:cBhvr>
                                        <p:cTn id="2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174241-0849-4D3B-BF8C-6552EB2898EA}"/>
              </a:ext>
            </a:extLst>
          </p:cNvPr>
          <p:cNvSpPr>
            <a:spLocks noGrp="1"/>
          </p:cNvSpPr>
          <p:nvPr>
            <p:ph type="title"/>
          </p:nvPr>
        </p:nvSpPr>
        <p:spPr/>
        <p:txBody>
          <a:bodyPr/>
          <a:lstStyle/>
          <a:p>
            <a:r>
              <a:rPr lang="en-US" dirty="0"/>
              <a:t>MODELLING AND ANALYSIS DONE IN OUR PROJECT</a:t>
            </a:r>
          </a:p>
        </p:txBody>
      </p:sp>
      <p:sp>
        <p:nvSpPr>
          <p:cNvPr id="3" name="Content Placeholder 2">
            <a:extLst>
              <a:ext uri="{FF2B5EF4-FFF2-40B4-BE49-F238E27FC236}">
                <a16:creationId xmlns:a16="http://schemas.microsoft.com/office/drawing/2014/main" id="{522168FB-CD15-4C07-8745-C8205CA73C3A}"/>
              </a:ext>
            </a:extLst>
          </p:cNvPr>
          <p:cNvSpPr>
            <a:spLocks noGrp="1"/>
          </p:cNvSpPr>
          <p:nvPr>
            <p:ph idx="1"/>
          </p:nvPr>
        </p:nvSpPr>
        <p:spPr>
          <a:xfrm>
            <a:off x="1261872" y="2162175"/>
            <a:ext cx="6158103" cy="4017962"/>
          </a:xfrm>
        </p:spPr>
        <p:txBody>
          <a:bodyPr/>
          <a:lstStyle/>
          <a:p>
            <a:r>
              <a:rPr lang="en-US" dirty="0"/>
              <a:t>We have created mainly the two models namely:</a:t>
            </a:r>
          </a:p>
          <a:p>
            <a:pPr lvl="1">
              <a:buFont typeface="Wingdings" panose="05000000000000000000" pitchFamily="2" charset="2"/>
              <a:buChar char="Ø"/>
            </a:pPr>
            <a:r>
              <a:rPr lang="en-US" dirty="0"/>
              <a:t>K – Nearest Neighbors (KNN) model </a:t>
            </a:r>
          </a:p>
          <a:p>
            <a:pPr lvl="1">
              <a:buFont typeface="Wingdings" panose="05000000000000000000" pitchFamily="2" charset="2"/>
              <a:buChar char="Ø"/>
            </a:pPr>
            <a:r>
              <a:rPr lang="en-US" dirty="0"/>
              <a:t>Logistic Regression Model</a:t>
            </a:r>
          </a:p>
          <a:p>
            <a:pPr lvl="1">
              <a:buFont typeface="Wingdings" panose="05000000000000000000" pitchFamily="2" charset="2"/>
              <a:buChar char="Ø"/>
            </a:pPr>
            <a:r>
              <a:rPr lang="en-US" dirty="0"/>
              <a:t>Gradient Boosting</a:t>
            </a:r>
          </a:p>
          <a:p>
            <a:pPr marL="274320" lvl="1" indent="0">
              <a:buNone/>
            </a:pPr>
            <a:r>
              <a:rPr lang="en-US" dirty="0"/>
              <a:t> </a:t>
            </a:r>
          </a:p>
        </p:txBody>
      </p:sp>
      <p:pic>
        <p:nvPicPr>
          <p:cNvPr id="5" name="Graphic 4" descr="Statistics">
            <a:extLst>
              <a:ext uri="{FF2B5EF4-FFF2-40B4-BE49-F238E27FC236}">
                <a16:creationId xmlns:a16="http://schemas.microsoft.com/office/drawing/2014/main" id="{7CFD18BA-C9B5-4507-B4CF-62D19594A75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943852" y="2089705"/>
            <a:ext cx="2062321" cy="2062321"/>
          </a:xfrm>
          <a:prstGeom prst="rect">
            <a:avLst/>
          </a:prstGeom>
        </p:spPr>
      </p:pic>
      <p:pic>
        <p:nvPicPr>
          <p:cNvPr id="7" name="Graphic 6" descr="Upward trend">
            <a:extLst>
              <a:ext uri="{FF2B5EF4-FFF2-40B4-BE49-F238E27FC236}">
                <a16:creationId xmlns:a16="http://schemas.microsoft.com/office/drawing/2014/main" id="{8065F5EF-98F5-4E39-B59F-5FB867B1D84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344023" y="3840518"/>
            <a:ext cx="2028111" cy="2028111"/>
          </a:xfrm>
          <a:prstGeom prst="rect">
            <a:avLst/>
          </a:prstGeom>
        </p:spPr>
      </p:pic>
    </p:spTree>
    <p:extLst>
      <p:ext uri="{BB962C8B-B14F-4D97-AF65-F5344CB8AC3E}">
        <p14:creationId xmlns:p14="http://schemas.microsoft.com/office/powerpoint/2010/main" val="355226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randombar(horizontal)">
                                      <p:cBhvr>
                                        <p:cTn id="12" dur="500"/>
                                        <p:tgtEl>
                                          <p:spTgt spid="3">
                                            <p:txEl>
                                              <p:pRg st="0" end="0"/>
                                            </p:txEl>
                                          </p:spTgt>
                                        </p:tgtEl>
                                      </p:cBhvr>
                                    </p:animEffect>
                                  </p:childTnLst>
                                </p:cTn>
                              </p:par>
                              <p:par>
                                <p:cTn id="13" presetID="14" presetClass="entr" presetSubtype="10" fill="hold" grpId="0"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5" dur="500"/>
                                        <p:tgtEl>
                                          <p:spTgt spid="3">
                                            <p:txEl>
                                              <p:pRg st="1" end="1"/>
                                            </p:txEl>
                                          </p:spTgt>
                                        </p:tgtEl>
                                      </p:cBhvr>
                                    </p:animEffect>
                                  </p:childTnLst>
                                </p:cTn>
                              </p:par>
                              <p:par>
                                <p:cTn id="16" presetID="14" presetClass="entr" presetSubtype="10" fill="hold" grpId="0"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8" dur="500"/>
                                        <p:tgtEl>
                                          <p:spTgt spid="3">
                                            <p:txEl>
                                              <p:pRg st="2" end="2"/>
                                            </p:txEl>
                                          </p:spTgt>
                                        </p:tgtEl>
                                      </p:cBhvr>
                                    </p:animEffect>
                                  </p:childTnLst>
                                </p:cTn>
                              </p:par>
                              <p:par>
                                <p:cTn id="19" presetID="14" presetClass="entr" presetSubtype="10"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randombar(horizontal)">
                                      <p:cBhvr>
                                        <p:cTn id="21" dur="500"/>
                                        <p:tgtEl>
                                          <p:spTgt spid="3">
                                            <p:txEl>
                                              <p:pRg st="3" end="3"/>
                                            </p:txEl>
                                          </p:spTgt>
                                        </p:tgtEl>
                                      </p:cBhvr>
                                    </p:animEffect>
                                  </p:childTnLst>
                                </p:cTn>
                              </p:par>
                              <p:par>
                                <p:cTn id="22" presetID="14" presetClass="entr" presetSubtype="10" fill="hold" grpId="0"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randombar(horizontal)">
                                      <p:cBhvr>
                                        <p:cTn id="24" dur="500"/>
                                        <p:tgtEl>
                                          <p:spTgt spid="3">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6" presetClass="entr" presetSubtype="0" fill="hold" nodeType="click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wipe(down)">
                                      <p:cBhvr>
                                        <p:cTn id="29" dur="580">
                                          <p:stCondLst>
                                            <p:cond delay="0"/>
                                          </p:stCondLst>
                                        </p:cTn>
                                        <p:tgtEl>
                                          <p:spTgt spid="5"/>
                                        </p:tgtEl>
                                      </p:cBhvr>
                                    </p:animEffect>
                                    <p:anim calcmode="lin" valueType="num">
                                      <p:cBhvr>
                                        <p:cTn id="30"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31"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32"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33"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34"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35" dur="26">
                                          <p:stCondLst>
                                            <p:cond delay="650"/>
                                          </p:stCondLst>
                                        </p:cTn>
                                        <p:tgtEl>
                                          <p:spTgt spid="5"/>
                                        </p:tgtEl>
                                      </p:cBhvr>
                                      <p:to x="100000" y="60000"/>
                                    </p:animScale>
                                    <p:animScale>
                                      <p:cBhvr>
                                        <p:cTn id="36" dur="166" decel="50000">
                                          <p:stCondLst>
                                            <p:cond delay="676"/>
                                          </p:stCondLst>
                                        </p:cTn>
                                        <p:tgtEl>
                                          <p:spTgt spid="5"/>
                                        </p:tgtEl>
                                      </p:cBhvr>
                                      <p:to x="100000" y="100000"/>
                                    </p:animScale>
                                    <p:animScale>
                                      <p:cBhvr>
                                        <p:cTn id="37" dur="26">
                                          <p:stCondLst>
                                            <p:cond delay="1312"/>
                                          </p:stCondLst>
                                        </p:cTn>
                                        <p:tgtEl>
                                          <p:spTgt spid="5"/>
                                        </p:tgtEl>
                                      </p:cBhvr>
                                      <p:to x="100000" y="80000"/>
                                    </p:animScale>
                                    <p:animScale>
                                      <p:cBhvr>
                                        <p:cTn id="38" dur="166" decel="50000">
                                          <p:stCondLst>
                                            <p:cond delay="1338"/>
                                          </p:stCondLst>
                                        </p:cTn>
                                        <p:tgtEl>
                                          <p:spTgt spid="5"/>
                                        </p:tgtEl>
                                      </p:cBhvr>
                                      <p:to x="100000" y="100000"/>
                                    </p:animScale>
                                    <p:animScale>
                                      <p:cBhvr>
                                        <p:cTn id="39" dur="26">
                                          <p:stCondLst>
                                            <p:cond delay="1642"/>
                                          </p:stCondLst>
                                        </p:cTn>
                                        <p:tgtEl>
                                          <p:spTgt spid="5"/>
                                        </p:tgtEl>
                                      </p:cBhvr>
                                      <p:to x="100000" y="90000"/>
                                    </p:animScale>
                                    <p:animScale>
                                      <p:cBhvr>
                                        <p:cTn id="40" dur="166" decel="50000">
                                          <p:stCondLst>
                                            <p:cond delay="1668"/>
                                          </p:stCondLst>
                                        </p:cTn>
                                        <p:tgtEl>
                                          <p:spTgt spid="5"/>
                                        </p:tgtEl>
                                      </p:cBhvr>
                                      <p:to x="100000" y="100000"/>
                                    </p:animScale>
                                    <p:animScale>
                                      <p:cBhvr>
                                        <p:cTn id="41" dur="26">
                                          <p:stCondLst>
                                            <p:cond delay="1808"/>
                                          </p:stCondLst>
                                        </p:cTn>
                                        <p:tgtEl>
                                          <p:spTgt spid="5"/>
                                        </p:tgtEl>
                                      </p:cBhvr>
                                      <p:to x="100000" y="95000"/>
                                    </p:animScale>
                                    <p:animScale>
                                      <p:cBhvr>
                                        <p:cTn id="42" dur="166" decel="50000">
                                          <p:stCondLst>
                                            <p:cond delay="1834"/>
                                          </p:stCondLst>
                                        </p:cTn>
                                        <p:tgtEl>
                                          <p:spTgt spid="5"/>
                                        </p:tgtEl>
                                      </p:cBhvr>
                                      <p:to x="100000" y="100000"/>
                                    </p:animScale>
                                  </p:childTnLst>
                                </p:cTn>
                              </p:par>
                            </p:childTnLst>
                          </p:cTn>
                        </p:par>
                      </p:childTnLst>
                    </p:cTn>
                  </p:par>
                  <p:par>
                    <p:cTn id="43" fill="hold">
                      <p:stCondLst>
                        <p:cond delay="indefinite"/>
                      </p:stCondLst>
                      <p:childTnLst>
                        <p:par>
                          <p:cTn id="44" fill="hold">
                            <p:stCondLst>
                              <p:cond delay="0"/>
                            </p:stCondLst>
                            <p:childTnLst>
                              <p:par>
                                <p:cTn id="45" presetID="26" presetClass="entr" presetSubtype="0" fill="hold" nodeType="clickEffect">
                                  <p:stCondLst>
                                    <p:cond delay="0"/>
                                  </p:stCondLst>
                                  <p:childTnLst>
                                    <p:set>
                                      <p:cBhvr>
                                        <p:cTn id="46" dur="1" fill="hold">
                                          <p:stCondLst>
                                            <p:cond delay="0"/>
                                          </p:stCondLst>
                                        </p:cTn>
                                        <p:tgtEl>
                                          <p:spTgt spid="7"/>
                                        </p:tgtEl>
                                        <p:attrNameLst>
                                          <p:attrName>style.visibility</p:attrName>
                                        </p:attrNameLst>
                                      </p:cBhvr>
                                      <p:to>
                                        <p:strVal val="visible"/>
                                      </p:to>
                                    </p:set>
                                    <p:animEffect transition="in" filter="wipe(down)">
                                      <p:cBhvr>
                                        <p:cTn id="47" dur="580">
                                          <p:stCondLst>
                                            <p:cond delay="0"/>
                                          </p:stCondLst>
                                        </p:cTn>
                                        <p:tgtEl>
                                          <p:spTgt spid="7"/>
                                        </p:tgtEl>
                                      </p:cBhvr>
                                    </p:animEffect>
                                    <p:anim calcmode="lin" valueType="num">
                                      <p:cBhvr>
                                        <p:cTn id="48"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49"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50"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51"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52"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53" dur="26">
                                          <p:stCondLst>
                                            <p:cond delay="650"/>
                                          </p:stCondLst>
                                        </p:cTn>
                                        <p:tgtEl>
                                          <p:spTgt spid="7"/>
                                        </p:tgtEl>
                                      </p:cBhvr>
                                      <p:to x="100000" y="60000"/>
                                    </p:animScale>
                                    <p:animScale>
                                      <p:cBhvr>
                                        <p:cTn id="54" dur="166" decel="50000">
                                          <p:stCondLst>
                                            <p:cond delay="676"/>
                                          </p:stCondLst>
                                        </p:cTn>
                                        <p:tgtEl>
                                          <p:spTgt spid="7"/>
                                        </p:tgtEl>
                                      </p:cBhvr>
                                      <p:to x="100000" y="100000"/>
                                    </p:animScale>
                                    <p:animScale>
                                      <p:cBhvr>
                                        <p:cTn id="55" dur="26">
                                          <p:stCondLst>
                                            <p:cond delay="1312"/>
                                          </p:stCondLst>
                                        </p:cTn>
                                        <p:tgtEl>
                                          <p:spTgt spid="7"/>
                                        </p:tgtEl>
                                      </p:cBhvr>
                                      <p:to x="100000" y="80000"/>
                                    </p:animScale>
                                    <p:animScale>
                                      <p:cBhvr>
                                        <p:cTn id="56" dur="166" decel="50000">
                                          <p:stCondLst>
                                            <p:cond delay="1338"/>
                                          </p:stCondLst>
                                        </p:cTn>
                                        <p:tgtEl>
                                          <p:spTgt spid="7"/>
                                        </p:tgtEl>
                                      </p:cBhvr>
                                      <p:to x="100000" y="100000"/>
                                    </p:animScale>
                                    <p:animScale>
                                      <p:cBhvr>
                                        <p:cTn id="57" dur="26">
                                          <p:stCondLst>
                                            <p:cond delay="1642"/>
                                          </p:stCondLst>
                                        </p:cTn>
                                        <p:tgtEl>
                                          <p:spTgt spid="7"/>
                                        </p:tgtEl>
                                      </p:cBhvr>
                                      <p:to x="100000" y="90000"/>
                                    </p:animScale>
                                    <p:animScale>
                                      <p:cBhvr>
                                        <p:cTn id="58" dur="166" decel="50000">
                                          <p:stCondLst>
                                            <p:cond delay="1668"/>
                                          </p:stCondLst>
                                        </p:cTn>
                                        <p:tgtEl>
                                          <p:spTgt spid="7"/>
                                        </p:tgtEl>
                                      </p:cBhvr>
                                      <p:to x="100000" y="100000"/>
                                    </p:animScale>
                                    <p:animScale>
                                      <p:cBhvr>
                                        <p:cTn id="59" dur="26">
                                          <p:stCondLst>
                                            <p:cond delay="1808"/>
                                          </p:stCondLst>
                                        </p:cTn>
                                        <p:tgtEl>
                                          <p:spTgt spid="7"/>
                                        </p:tgtEl>
                                      </p:cBhvr>
                                      <p:to x="100000" y="95000"/>
                                    </p:animScale>
                                    <p:animScale>
                                      <p:cBhvr>
                                        <p:cTn id="60" dur="166" decel="50000">
                                          <p:stCondLst>
                                            <p:cond delay="1834"/>
                                          </p:stCondLst>
                                        </p:cTn>
                                        <p:tgtEl>
                                          <p:spTgt spid="7"/>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174241-0849-4D3B-BF8C-6552EB2898EA}"/>
              </a:ext>
            </a:extLst>
          </p:cNvPr>
          <p:cNvSpPr>
            <a:spLocks noGrp="1"/>
          </p:cNvSpPr>
          <p:nvPr>
            <p:ph type="title"/>
          </p:nvPr>
        </p:nvSpPr>
        <p:spPr/>
        <p:txBody>
          <a:bodyPr/>
          <a:lstStyle/>
          <a:p>
            <a:r>
              <a:rPr lang="en-US" dirty="0"/>
              <a:t>DATA PREPROCESSING</a:t>
            </a:r>
          </a:p>
        </p:txBody>
      </p:sp>
      <p:sp>
        <p:nvSpPr>
          <p:cNvPr id="3" name="Content Placeholder 2">
            <a:extLst>
              <a:ext uri="{FF2B5EF4-FFF2-40B4-BE49-F238E27FC236}">
                <a16:creationId xmlns:a16="http://schemas.microsoft.com/office/drawing/2014/main" id="{522168FB-CD15-4C07-8745-C8205CA73C3A}"/>
              </a:ext>
            </a:extLst>
          </p:cNvPr>
          <p:cNvSpPr>
            <a:spLocks noGrp="1"/>
          </p:cNvSpPr>
          <p:nvPr>
            <p:ph idx="1"/>
          </p:nvPr>
        </p:nvSpPr>
        <p:spPr/>
        <p:txBody>
          <a:bodyPr/>
          <a:lstStyle/>
          <a:p>
            <a:r>
              <a:rPr lang="en-US" dirty="0"/>
              <a:t>To find the missing values and removing them. </a:t>
            </a:r>
          </a:p>
          <a:p>
            <a:r>
              <a:rPr lang="en-US" dirty="0"/>
              <a:t>To create dummy variables. </a:t>
            </a:r>
          </a:p>
        </p:txBody>
      </p:sp>
      <p:pic>
        <p:nvPicPr>
          <p:cNvPr id="5" name="Picture 4">
            <a:extLst>
              <a:ext uri="{FF2B5EF4-FFF2-40B4-BE49-F238E27FC236}">
                <a16:creationId xmlns:a16="http://schemas.microsoft.com/office/drawing/2014/main" id="{C1FCD55C-33F5-4B10-8093-5B22D986A7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34768" y="3429000"/>
            <a:ext cx="7780782" cy="2888615"/>
          </a:xfrm>
          <a:prstGeom prst="rect">
            <a:avLst/>
          </a:prstGeom>
        </p:spPr>
      </p:pic>
    </p:spTree>
    <p:extLst>
      <p:ext uri="{BB962C8B-B14F-4D97-AF65-F5344CB8AC3E}">
        <p14:creationId xmlns:p14="http://schemas.microsoft.com/office/powerpoint/2010/main" val="3714828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randombar(horizontal)">
                                      <p:cBhvr>
                                        <p:cTn id="12" dur="500"/>
                                        <p:tgtEl>
                                          <p:spTgt spid="3">
                                            <p:txEl>
                                              <p:pRg st="0" end="0"/>
                                            </p:txEl>
                                          </p:spTgt>
                                        </p:tgtEl>
                                      </p:cBhvr>
                                    </p:animEffect>
                                  </p:childTnLst>
                                </p:cTn>
                              </p:par>
                              <p:par>
                                <p:cTn id="13" presetID="14" presetClass="entr" presetSubtype="10" fill="hold" grpId="0"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5" dur="5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1" presetClass="entr" presetSubtype="0"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anim calcmode="lin" valueType="num">
                                      <p:cBhvr>
                                        <p:cTn id="20" dur="1000" fill="hold"/>
                                        <p:tgtEl>
                                          <p:spTgt spid="5"/>
                                        </p:tgtEl>
                                        <p:attrNameLst>
                                          <p:attrName>ppt_w</p:attrName>
                                        </p:attrNameLst>
                                      </p:cBhvr>
                                      <p:tavLst>
                                        <p:tav tm="0">
                                          <p:val>
                                            <p:fltVal val="0"/>
                                          </p:val>
                                        </p:tav>
                                        <p:tav tm="100000">
                                          <p:val>
                                            <p:strVal val="#ppt_w"/>
                                          </p:val>
                                        </p:tav>
                                      </p:tavLst>
                                    </p:anim>
                                    <p:anim calcmode="lin" valueType="num">
                                      <p:cBhvr>
                                        <p:cTn id="21" dur="1000" fill="hold"/>
                                        <p:tgtEl>
                                          <p:spTgt spid="5"/>
                                        </p:tgtEl>
                                        <p:attrNameLst>
                                          <p:attrName>ppt_h</p:attrName>
                                        </p:attrNameLst>
                                      </p:cBhvr>
                                      <p:tavLst>
                                        <p:tav tm="0">
                                          <p:val>
                                            <p:fltVal val="0"/>
                                          </p:val>
                                        </p:tav>
                                        <p:tav tm="100000">
                                          <p:val>
                                            <p:strVal val="#ppt_h"/>
                                          </p:val>
                                        </p:tav>
                                      </p:tavLst>
                                    </p:anim>
                                    <p:anim calcmode="lin" valueType="num">
                                      <p:cBhvr>
                                        <p:cTn id="22" dur="1000" fill="hold"/>
                                        <p:tgtEl>
                                          <p:spTgt spid="5"/>
                                        </p:tgtEl>
                                        <p:attrNameLst>
                                          <p:attrName>style.rotation</p:attrName>
                                        </p:attrNameLst>
                                      </p:cBhvr>
                                      <p:tavLst>
                                        <p:tav tm="0">
                                          <p:val>
                                            <p:fltVal val="90"/>
                                          </p:val>
                                        </p:tav>
                                        <p:tav tm="100000">
                                          <p:val>
                                            <p:fltVal val="0"/>
                                          </p:val>
                                        </p:tav>
                                      </p:tavLst>
                                    </p:anim>
                                    <p:animEffect transition="in" filter="fade">
                                      <p:cBhvr>
                                        <p:cTn id="23"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79DE8-C33A-4467-B624-06863FF5C919}"/>
              </a:ext>
            </a:extLst>
          </p:cNvPr>
          <p:cNvSpPr>
            <a:spLocks noGrp="1"/>
          </p:cNvSpPr>
          <p:nvPr>
            <p:ph type="title"/>
          </p:nvPr>
        </p:nvSpPr>
        <p:spPr/>
        <p:txBody>
          <a:bodyPr/>
          <a:lstStyle/>
          <a:p>
            <a:r>
              <a:rPr lang="en-US" dirty="0"/>
              <a:t>Data Cleaning</a:t>
            </a:r>
          </a:p>
        </p:txBody>
      </p:sp>
      <p:pic>
        <p:nvPicPr>
          <p:cNvPr id="4" name="Content Placeholder 3">
            <a:extLst>
              <a:ext uri="{FF2B5EF4-FFF2-40B4-BE49-F238E27FC236}">
                <a16:creationId xmlns:a16="http://schemas.microsoft.com/office/drawing/2014/main" id="{5ECD3FD2-BF75-4352-B85D-39F36209EA7A}"/>
              </a:ext>
            </a:extLst>
          </p:cNvPr>
          <p:cNvPicPr>
            <a:picLocks noGrp="1"/>
          </p:cNvPicPr>
          <p:nvPr>
            <p:ph idx="1"/>
          </p:nvPr>
        </p:nvPicPr>
        <p:blipFill>
          <a:blip r:embed="rId2"/>
          <a:stretch>
            <a:fillRect/>
          </a:stretch>
        </p:blipFill>
        <p:spPr>
          <a:xfrm>
            <a:off x="1133474" y="1809114"/>
            <a:ext cx="4810125" cy="4077336"/>
          </a:xfrm>
          <a:prstGeom prst="rect">
            <a:avLst/>
          </a:prstGeom>
        </p:spPr>
      </p:pic>
      <p:pic>
        <p:nvPicPr>
          <p:cNvPr id="5" name="Picture 4">
            <a:extLst>
              <a:ext uri="{FF2B5EF4-FFF2-40B4-BE49-F238E27FC236}">
                <a16:creationId xmlns:a16="http://schemas.microsoft.com/office/drawing/2014/main" id="{AE1B3B7D-D97C-4676-B76C-33DEE8704CD3}"/>
              </a:ext>
            </a:extLst>
          </p:cNvPr>
          <p:cNvPicPr/>
          <p:nvPr/>
        </p:nvPicPr>
        <p:blipFill>
          <a:blip r:embed="rId3"/>
          <a:stretch>
            <a:fillRect/>
          </a:stretch>
        </p:blipFill>
        <p:spPr>
          <a:xfrm>
            <a:off x="6096000" y="1809115"/>
            <a:ext cx="4962526" cy="4077335"/>
          </a:xfrm>
          <a:prstGeom prst="rect">
            <a:avLst/>
          </a:prstGeom>
        </p:spPr>
      </p:pic>
    </p:spTree>
    <p:extLst>
      <p:ext uri="{BB962C8B-B14F-4D97-AF65-F5344CB8AC3E}">
        <p14:creationId xmlns:p14="http://schemas.microsoft.com/office/powerpoint/2010/main" val="4245915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4FF72-A20E-4E84-B640-CD619CC7BA62}"/>
              </a:ext>
            </a:extLst>
          </p:cNvPr>
          <p:cNvSpPr>
            <a:spLocks noGrp="1"/>
          </p:cNvSpPr>
          <p:nvPr>
            <p:ph type="title"/>
          </p:nvPr>
        </p:nvSpPr>
        <p:spPr/>
        <p:txBody>
          <a:bodyPr vert="horz" lIns="91440" tIns="45720" rIns="91440" bIns="45720" rtlCol="0" anchor="b">
            <a:normAutofit/>
          </a:bodyPr>
          <a:lstStyle/>
          <a:p>
            <a:pPr>
              <a:lnSpc>
                <a:spcPct val="85000"/>
              </a:lnSpc>
            </a:pPr>
            <a:r>
              <a:rPr lang="en-US" sz="6600" dirty="0"/>
              <a:t>Data Cleaning</a:t>
            </a:r>
          </a:p>
        </p:txBody>
      </p:sp>
      <p:pic>
        <p:nvPicPr>
          <p:cNvPr id="8" name="Content Placeholder 7">
            <a:extLst>
              <a:ext uri="{FF2B5EF4-FFF2-40B4-BE49-F238E27FC236}">
                <a16:creationId xmlns:a16="http://schemas.microsoft.com/office/drawing/2014/main" id="{F0C628A8-57DD-4373-88DE-25DF4C550361}"/>
              </a:ext>
            </a:extLst>
          </p:cNvPr>
          <p:cNvPicPr>
            <a:picLocks noGrp="1" noChangeAspect="1"/>
          </p:cNvPicPr>
          <p:nvPr>
            <p:ph sz="half" idx="1"/>
          </p:nvPr>
        </p:nvPicPr>
        <p:blipFill>
          <a:blip r:embed="rId2"/>
          <a:stretch>
            <a:fillRect/>
          </a:stretch>
        </p:blipFill>
        <p:spPr>
          <a:xfrm>
            <a:off x="5708015" y="1981200"/>
            <a:ext cx="5069207" cy="3124200"/>
          </a:xfrm>
          <a:prstGeom prst="rect">
            <a:avLst/>
          </a:prstGeom>
        </p:spPr>
      </p:pic>
      <p:pic>
        <p:nvPicPr>
          <p:cNvPr id="7" name="Picture 6">
            <a:extLst>
              <a:ext uri="{FF2B5EF4-FFF2-40B4-BE49-F238E27FC236}">
                <a16:creationId xmlns:a16="http://schemas.microsoft.com/office/drawing/2014/main" id="{6A73524A-4EA2-4C9D-B86E-DA81A1A02D26}"/>
              </a:ext>
            </a:extLst>
          </p:cNvPr>
          <p:cNvPicPr>
            <a:picLocks noChangeAspect="1"/>
          </p:cNvPicPr>
          <p:nvPr/>
        </p:nvPicPr>
        <p:blipFill>
          <a:blip r:embed="rId3"/>
          <a:stretch>
            <a:fillRect/>
          </a:stretch>
        </p:blipFill>
        <p:spPr>
          <a:xfrm>
            <a:off x="629666" y="1981200"/>
            <a:ext cx="4923409" cy="1924050"/>
          </a:xfrm>
          <a:prstGeom prst="rect">
            <a:avLst/>
          </a:prstGeom>
        </p:spPr>
      </p:pic>
    </p:spTree>
    <p:extLst>
      <p:ext uri="{BB962C8B-B14F-4D97-AF65-F5344CB8AC3E}">
        <p14:creationId xmlns:p14="http://schemas.microsoft.com/office/powerpoint/2010/main" val="1354565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D0900-DC30-4BF3-B116-35AEAB75780A}"/>
              </a:ext>
            </a:extLst>
          </p:cNvPr>
          <p:cNvSpPr>
            <a:spLocks noGrp="1"/>
          </p:cNvSpPr>
          <p:nvPr>
            <p:ph type="title"/>
          </p:nvPr>
        </p:nvSpPr>
        <p:spPr/>
        <p:txBody>
          <a:bodyPr>
            <a:normAutofit/>
          </a:bodyPr>
          <a:lstStyle/>
          <a:p>
            <a:r>
              <a:rPr lang="en-US" dirty="0"/>
              <a:t>Data Cleaning</a:t>
            </a:r>
          </a:p>
        </p:txBody>
      </p:sp>
      <p:pic>
        <p:nvPicPr>
          <p:cNvPr id="11" name="Picture 10">
            <a:extLst>
              <a:ext uri="{FF2B5EF4-FFF2-40B4-BE49-F238E27FC236}">
                <a16:creationId xmlns:a16="http://schemas.microsoft.com/office/drawing/2014/main" id="{D0147A88-85C5-49BD-8AEB-30FA4EFE9DC8}"/>
              </a:ext>
            </a:extLst>
          </p:cNvPr>
          <p:cNvPicPr>
            <a:picLocks noChangeAspect="1"/>
          </p:cNvPicPr>
          <p:nvPr/>
        </p:nvPicPr>
        <p:blipFill>
          <a:blip r:embed="rId3"/>
          <a:stretch>
            <a:fillRect/>
          </a:stretch>
        </p:blipFill>
        <p:spPr>
          <a:xfrm>
            <a:off x="323850" y="1995487"/>
            <a:ext cx="5143500" cy="3428999"/>
          </a:xfrm>
          <a:prstGeom prst="rect">
            <a:avLst/>
          </a:prstGeom>
        </p:spPr>
      </p:pic>
      <p:pic>
        <p:nvPicPr>
          <p:cNvPr id="12" name="Picture 11">
            <a:extLst>
              <a:ext uri="{FF2B5EF4-FFF2-40B4-BE49-F238E27FC236}">
                <a16:creationId xmlns:a16="http://schemas.microsoft.com/office/drawing/2014/main" id="{C30A9228-A73B-4A21-8676-4A97488844E7}"/>
              </a:ext>
            </a:extLst>
          </p:cNvPr>
          <p:cNvPicPr>
            <a:picLocks noChangeAspect="1"/>
          </p:cNvPicPr>
          <p:nvPr/>
        </p:nvPicPr>
        <p:blipFill>
          <a:blip r:embed="rId4"/>
          <a:stretch>
            <a:fillRect/>
          </a:stretch>
        </p:blipFill>
        <p:spPr>
          <a:xfrm>
            <a:off x="5630038" y="1995487"/>
            <a:ext cx="5714238" cy="2524125"/>
          </a:xfrm>
          <a:prstGeom prst="rect">
            <a:avLst/>
          </a:prstGeom>
        </p:spPr>
      </p:pic>
    </p:spTree>
    <p:extLst>
      <p:ext uri="{BB962C8B-B14F-4D97-AF65-F5344CB8AC3E}">
        <p14:creationId xmlns:p14="http://schemas.microsoft.com/office/powerpoint/2010/main" val="3474895610"/>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2FC79-545C-4EAD-B5CD-23C69C90FDAB}"/>
              </a:ext>
            </a:extLst>
          </p:cNvPr>
          <p:cNvSpPr>
            <a:spLocks noGrp="1"/>
          </p:cNvSpPr>
          <p:nvPr>
            <p:ph type="title"/>
          </p:nvPr>
        </p:nvSpPr>
        <p:spPr/>
        <p:txBody>
          <a:bodyPr/>
          <a:lstStyle/>
          <a:p>
            <a:r>
              <a:rPr lang="en-US" dirty="0"/>
              <a:t>Data Cleaning </a:t>
            </a:r>
          </a:p>
        </p:txBody>
      </p:sp>
      <p:pic>
        <p:nvPicPr>
          <p:cNvPr id="3" name="Picture 2">
            <a:extLst>
              <a:ext uri="{FF2B5EF4-FFF2-40B4-BE49-F238E27FC236}">
                <a16:creationId xmlns:a16="http://schemas.microsoft.com/office/drawing/2014/main" id="{09606B10-500D-42B1-9219-32E4A9C2AD67}"/>
              </a:ext>
            </a:extLst>
          </p:cNvPr>
          <p:cNvPicPr>
            <a:picLocks noChangeAspect="1"/>
          </p:cNvPicPr>
          <p:nvPr/>
        </p:nvPicPr>
        <p:blipFill>
          <a:blip r:embed="rId2"/>
          <a:stretch>
            <a:fillRect/>
          </a:stretch>
        </p:blipFill>
        <p:spPr>
          <a:xfrm>
            <a:off x="1736217" y="2466975"/>
            <a:ext cx="8743950" cy="3505200"/>
          </a:xfrm>
          <a:prstGeom prst="rect">
            <a:avLst/>
          </a:prstGeom>
        </p:spPr>
      </p:pic>
    </p:spTree>
    <p:extLst>
      <p:ext uri="{BB962C8B-B14F-4D97-AF65-F5344CB8AC3E}">
        <p14:creationId xmlns:p14="http://schemas.microsoft.com/office/powerpoint/2010/main" val="4972667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1FBA4-2227-4A11-AE57-77213C36D246}"/>
              </a:ext>
            </a:extLst>
          </p:cNvPr>
          <p:cNvSpPr>
            <a:spLocks noGrp="1"/>
          </p:cNvSpPr>
          <p:nvPr>
            <p:ph type="title"/>
          </p:nvPr>
        </p:nvSpPr>
        <p:spPr/>
        <p:txBody>
          <a:bodyPr/>
          <a:lstStyle/>
          <a:p>
            <a:r>
              <a:rPr lang="en-US" dirty="0"/>
              <a:t>Data Cleaning</a:t>
            </a:r>
          </a:p>
        </p:txBody>
      </p:sp>
      <p:pic>
        <p:nvPicPr>
          <p:cNvPr id="3" name="Picture 2">
            <a:extLst>
              <a:ext uri="{FF2B5EF4-FFF2-40B4-BE49-F238E27FC236}">
                <a16:creationId xmlns:a16="http://schemas.microsoft.com/office/drawing/2014/main" id="{AD79A488-87C1-4909-82B5-E257C5E30498}"/>
              </a:ext>
            </a:extLst>
          </p:cNvPr>
          <p:cNvPicPr>
            <a:picLocks noChangeAspect="1"/>
          </p:cNvPicPr>
          <p:nvPr/>
        </p:nvPicPr>
        <p:blipFill>
          <a:blip r:embed="rId2"/>
          <a:stretch>
            <a:fillRect/>
          </a:stretch>
        </p:blipFill>
        <p:spPr>
          <a:xfrm>
            <a:off x="704850" y="2059701"/>
            <a:ext cx="8105775" cy="1252538"/>
          </a:xfrm>
          <a:prstGeom prst="rect">
            <a:avLst/>
          </a:prstGeom>
        </p:spPr>
      </p:pic>
      <p:pic>
        <p:nvPicPr>
          <p:cNvPr id="4" name="Picture 3">
            <a:extLst>
              <a:ext uri="{FF2B5EF4-FFF2-40B4-BE49-F238E27FC236}">
                <a16:creationId xmlns:a16="http://schemas.microsoft.com/office/drawing/2014/main" id="{CA463916-289A-41B6-A136-7DAC38840139}"/>
              </a:ext>
            </a:extLst>
          </p:cNvPr>
          <p:cNvPicPr>
            <a:picLocks noChangeAspect="1"/>
          </p:cNvPicPr>
          <p:nvPr/>
        </p:nvPicPr>
        <p:blipFill>
          <a:blip r:embed="rId3"/>
          <a:stretch>
            <a:fillRect/>
          </a:stretch>
        </p:blipFill>
        <p:spPr>
          <a:xfrm>
            <a:off x="704850" y="3680618"/>
            <a:ext cx="10372725" cy="1977231"/>
          </a:xfrm>
          <a:prstGeom prst="rect">
            <a:avLst/>
          </a:prstGeom>
        </p:spPr>
      </p:pic>
    </p:spTree>
    <p:extLst>
      <p:ext uri="{BB962C8B-B14F-4D97-AF65-F5344CB8AC3E}">
        <p14:creationId xmlns:p14="http://schemas.microsoft.com/office/powerpoint/2010/main" val="6483677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DF2C7-7ABD-4232-B321-5C7DD462F2BF}"/>
              </a:ext>
            </a:extLst>
          </p:cNvPr>
          <p:cNvSpPr>
            <a:spLocks noGrp="1"/>
          </p:cNvSpPr>
          <p:nvPr>
            <p:ph type="title"/>
          </p:nvPr>
        </p:nvSpPr>
        <p:spPr/>
        <p:txBody>
          <a:bodyPr/>
          <a:lstStyle/>
          <a:p>
            <a:r>
              <a:rPr lang="en-US" dirty="0"/>
              <a:t>Data Cleaning</a:t>
            </a:r>
          </a:p>
        </p:txBody>
      </p:sp>
      <p:pic>
        <p:nvPicPr>
          <p:cNvPr id="3" name="Picture 2">
            <a:extLst>
              <a:ext uri="{FF2B5EF4-FFF2-40B4-BE49-F238E27FC236}">
                <a16:creationId xmlns:a16="http://schemas.microsoft.com/office/drawing/2014/main" id="{6374668B-90A4-4D66-B424-A7837ED2C164}"/>
              </a:ext>
            </a:extLst>
          </p:cNvPr>
          <p:cNvPicPr>
            <a:picLocks noChangeAspect="1"/>
          </p:cNvPicPr>
          <p:nvPr/>
        </p:nvPicPr>
        <p:blipFill>
          <a:blip r:embed="rId2"/>
          <a:stretch>
            <a:fillRect/>
          </a:stretch>
        </p:blipFill>
        <p:spPr>
          <a:xfrm>
            <a:off x="557212" y="2000249"/>
            <a:ext cx="7277100" cy="809625"/>
          </a:xfrm>
          <a:prstGeom prst="rect">
            <a:avLst/>
          </a:prstGeom>
        </p:spPr>
      </p:pic>
      <p:pic>
        <p:nvPicPr>
          <p:cNvPr id="4" name="Picture 3">
            <a:extLst>
              <a:ext uri="{FF2B5EF4-FFF2-40B4-BE49-F238E27FC236}">
                <a16:creationId xmlns:a16="http://schemas.microsoft.com/office/drawing/2014/main" id="{00F70F97-C9A1-49B5-8FEB-BF0559368628}"/>
              </a:ext>
            </a:extLst>
          </p:cNvPr>
          <p:cNvPicPr>
            <a:picLocks noChangeAspect="1"/>
          </p:cNvPicPr>
          <p:nvPr/>
        </p:nvPicPr>
        <p:blipFill>
          <a:blip r:embed="rId3"/>
          <a:stretch>
            <a:fillRect/>
          </a:stretch>
        </p:blipFill>
        <p:spPr>
          <a:xfrm>
            <a:off x="557212" y="3290251"/>
            <a:ext cx="11249025" cy="3000375"/>
          </a:xfrm>
          <a:prstGeom prst="rect">
            <a:avLst/>
          </a:prstGeom>
        </p:spPr>
      </p:pic>
    </p:spTree>
    <p:extLst>
      <p:ext uri="{BB962C8B-B14F-4D97-AF65-F5344CB8AC3E}">
        <p14:creationId xmlns:p14="http://schemas.microsoft.com/office/powerpoint/2010/main" val="19579652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F4AA2-AB36-4C65-8A1F-645875BB1E8E}"/>
              </a:ext>
            </a:extLst>
          </p:cNvPr>
          <p:cNvSpPr>
            <a:spLocks noGrp="1"/>
          </p:cNvSpPr>
          <p:nvPr>
            <p:ph type="title"/>
          </p:nvPr>
        </p:nvSpPr>
        <p:spPr/>
        <p:txBody>
          <a:bodyPr/>
          <a:lstStyle/>
          <a:p>
            <a:r>
              <a:rPr lang="en-US" dirty="0"/>
              <a:t>K-Nearest Neighbor Model </a:t>
            </a:r>
          </a:p>
        </p:txBody>
      </p:sp>
      <p:sp>
        <p:nvSpPr>
          <p:cNvPr id="3" name="Content Placeholder 2">
            <a:extLst>
              <a:ext uri="{FF2B5EF4-FFF2-40B4-BE49-F238E27FC236}">
                <a16:creationId xmlns:a16="http://schemas.microsoft.com/office/drawing/2014/main" id="{8617A6C2-5C00-4000-B9C9-981E7D031601}"/>
              </a:ext>
            </a:extLst>
          </p:cNvPr>
          <p:cNvSpPr>
            <a:spLocks noGrp="1"/>
          </p:cNvSpPr>
          <p:nvPr>
            <p:ph idx="1"/>
          </p:nvPr>
        </p:nvSpPr>
        <p:spPr>
          <a:xfrm>
            <a:off x="1261873" y="1828800"/>
            <a:ext cx="6129528" cy="4351337"/>
          </a:xfrm>
        </p:spPr>
        <p:txBody>
          <a:bodyPr/>
          <a:lstStyle/>
          <a:p>
            <a:r>
              <a:rPr lang="en-US" dirty="0"/>
              <a:t>The KNN models are generally simple and can be used in both classification as well as regression model.</a:t>
            </a:r>
          </a:p>
          <a:p>
            <a:r>
              <a:rPr lang="en-US" dirty="0"/>
              <a:t>We need to Normalize our data before calculating the distance.</a:t>
            </a:r>
          </a:p>
          <a:p>
            <a:r>
              <a:rPr lang="en-US" dirty="0"/>
              <a:t>In KNN, the distance is calculated on the basis of similarity of the data. The distance calculation method commonly used are: </a:t>
            </a:r>
          </a:p>
          <a:p>
            <a:pPr lvl="1">
              <a:buFont typeface="Wingdings" panose="05000000000000000000" pitchFamily="2" charset="2"/>
              <a:buChar char="Ø"/>
            </a:pPr>
            <a:r>
              <a:rPr lang="en-US" dirty="0"/>
              <a:t>Manhattan distance</a:t>
            </a:r>
          </a:p>
          <a:p>
            <a:pPr lvl="1">
              <a:buFont typeface="Wingdings" panose="05000000000000000000" pitchFamily="2" charset="2"/>
              <a:buChar char="Ø"/>
            </a:pPr>
            <a:r>
              <a:rPr lang="en-US" dirty="0"/>
              <a:t>Euclidean distance</a:t>
            </a:r>
          </a:p>
          <a:p>
            <a:pPr marL="274320" lvl="1" indent="0">
              <a:buNone/>
            </a:pPr>
            <a:endParaRPr lang="en-US" dirty="0"/>
          </a:p>
        </p:txBody>
      </p:sp>
    </p:spTree>
    <p:extLst>
      <p:ext uri="{BB962C8B-B14F-4D97-AF65-F5344CB8AC3E}">
        <p14:creationId xmlns:p14="http://schemas.microsoft.com/office/powerpoint/2010/main" val="187955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C0F19-9BA6-42F1-B2DD-74C3220D49B8}"/>
              </a:ext>
            </a:extLst>
          </p:cNvPr>
          <p:cNvSpPr>
            <a:spLocks noGrp="1"/>
          </p:cNvSpPr>
          <p:nvPr>
            <p:ph type="title"/>
          </p:nvPr>
        </p:nvSpPr>
        <p:spPr/>
        <p:txBody>
          <a:bodyPr/>
          <a:lstStyle/>
          <a:p>
            <a:r>
              <a:rPr lang="en-US" dirty="0"/>
              <a:t>KNN: Normalization</a:t>
            </a:r>
          </a:p>
        </p:txBody>
      </p:sp>
      <p:pic>
        <p:nvPicPr>
          <p:cNvPr id="3" name="Picture 2">
            <a:extLst>
              <a:ext uri="{FF2B5EF4-FFF2-40B4-BE49-F238E27FC236}">
                <a16:creationId xmlns:a16="http://schemas.microsoft.com/office/drawing/2014/main" id="{D8ED57AE-A6DD-46FA-9E27-BCE720D3FABE}"/>
              </a:ext>
            </a:extLst>
          </p:cNvPr>
          <p:cNvPicPr>
            <a:picLocks noChangeAspect="1"/>
          </p:cNvPicPr>
          <p:nvPr/>
        </p:nvPicPr>
        <p:blipFill>
          <a:blip r:embed="rId2"/>
          <a:stretch>
            <a:fillRect/>
          </a:stretch>
        </p:blipFill>
        <p:spPr>
          <a:xfrm>
            <a:off x="642938" y="1833562"/>
            <a:ext cx="8662987" cy="1907365"/>
          </a:xfrm>
          <a:prstGeom prst="rect">
            <a:avLst/>
          </a:prstGeom>
        </p:spPr>
      </p:pic>
      <p:pic>
        <p:nvPicPr>
          <p:cNvPr id="4" name="Picture 3">
            <a:extLst>
              <a:ext uri="{FF2B5EF4-FFF2-40B4-BE49-F238E27FC236}">
                <a16:creationId xmlns:a16="http://schemas.microsoft.com/office/drawing/2014/main" id="{D33EFBF4-C046-4B9B-AD76-C5457952B966}"/>
              </a:ext>
            </a:extLst>
          </p:cNvPr>
          <p:cNvPicPr>
            <a:picLocks noChangeAspect="1"/>
          </p:cNvPicPr>
          <p:nvPr/>
        </p:nvPicPr>
        <p:blipFill>
          <a:blip r:embed="rId3"/>
          <a:stretch>
            <a:fillRect/>
          </a:stretch>
        </p:blipFill>
        <p:spPr>
          <a:xfrm>
            <a:off x="642939" y="4168140"/>
            <a:ext cx="10653712" cy="2219325"/>
          </a:xfrm>
          <a:prstGeom prst="rect">
            <a:avLst/>
          </a:prstGeom>
        </p:spPr>
      </p:pic>
    </p:spTree>
    <p:extLst>
      <p:ext uri="{BB962C8B-B14F-4D97-AF65-F5344CB8AC3E}">
        <p14:creationId xmlns:p14="http://schemas.microsoft.com/office/powerpoint/2010/main" val="32849133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610F1D-97CA-49D4-9A7B-CB1DAAFC515A}"/>
              </a:ext>
            </a:extLst>
          </p:cNvPr>
          <p:cNvSpPr>
            <a:spLocks noGrp="1"/>
          </p:cNvSpPr>
          <p:nvPr>
            <p:ph type="title"/>
          </p:nvPr>
        </p:nvSpPr>
        <p:spPr/>
        <p:txBody>
          <a:bodyPr/>
          <a:lstStyle/>
          <a:p>
            <a:r>
              <a:rPr lang="en-US" dirty="0"/>
              <a:t>KNN: Creating Dummies</a:t>
            </a:r>
          </a:p>
        </p:txBody>
      </p:sp>
      <p:pic>
        <p:nvPicPr>
          <p:cNvPr id="3" name="Picture 2">
            <a:extLst>
              <a:ext uri="{FF2B5EF4-FFF2-40B4-BE49-F238E27FC236}">
                <a16:creationId xmlns:a16="http://schemas.microsoft.com/office/drawing/2014/main" id="{0E07EE92-5C1C-439E-8655-DA6E4FA03310}"/>
              </a:ext>
            </a:extLst>
          </p:cNvPr>
          <p:cNvPicPr>
            <a:picLocks noChangeAspect="1"/>
          </p:cNvPicPr>
          <p:nvPr/>
        </p:nvPicPr>
        <p:blipFill>
          <a:blip r:embed="rId2"/>
          <a:stretch>
            <a:fillRect/>
          </a:stretch>
        </p:blipFill>
        <p:spPr>
          <a:xfrm>
            <a:off x="857251" y="3428999"/>
            <a:ext cx="10311046" cy="2847976"/>
          </a:xfrm>
          <a:prstGeom prst="rect">
            <a:avLst/>
          </a:prstGeom>
        </p:spPr>
      </p:pic>
      <p:pic>
        <p:nvPicPr>
          <p:cNvPr id="4" name="Picture 3">
            <a:extLst>
              <a:ext uri="{FF2B5EF4-FFF2-40B4-BE49-F238E27FC236}">
                <a16:creationId xmlns:a16="http://schemas.microsoft.com/office/drawing/2014/main" id="{F3925E3B-B0AD-401D-9BCE-F9C0FA183D62}"/>
              </a:ext>
            </a:extLst>
          </p:cNvPr>
          <p:cNvPicPr>
            <a:picLocks noChangeAspect="1"/>
          </p:cNvPicPr>
          <p:nvPr/>
        </p:nvPicPr>
        <p:blipFill>
          <a:blip r:embed="rId3"/>
          <a:stretch>
            <a:fillRect/>
          </a:stretch>
        </p:blipFill>
        <p:spPr>
          <a:xfrm>
            <a:off x="857250" y="1955323"/>
            <a:ext cx="8001000" cy="1209675"/>
          </a:xfrm>
          <a:prstGeom prst="rect">
            <a:avLst/>
          </a:prstGeom>
        </p:spPr>
      </p:pic>
    </p:spTree>
    <p:extLst>
      <p:ext uri="{BB962C8B-B14F-4D97-AF65-F5344CB8AC3E}">
        <p14:creationId xmlns:p14="http://schemas.microsoft.com/office/powerpoint/2010/main" val="24910606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15082-A56B-4275-B647-C8E3E39F2D3B}"/>
              </a:ext>
            </a:extLst>
          </p:cNvPr>
          <p:cNvSpPr>
            <a:spLocks noGrp="1"/>
          </p:cNvSpPr>
          <p:nvPr>
            <p:ph type="title"/>
          </p:nvPr>
        </p:nvSpPr>
        <p:spPr/>
        <p:txBody>
          <a:bodyPr/>
          <a:lstStyle/>
          <a:p>
            <a:r>
              <a:rPr lang="en-US" dirty="0"/>
              <a:t>KNN: Removing the extra column</a:t>
            </a:r>
          </a:p>
        </p:txBody>
      </p:sp>
      <p:pic>
        <p:nvPicPr>
          <p:cNvPr id="3" name="Picture 2">
            <a:extLst>
              <a:ext uri="{FF2B5EF4-FFF2-40B4-BE49-F238E27FC236}">
                <a16:creationId xmlns:a16="http://schemas.microsoft.com/office/drawing/2014/main" id="{82E3CC86-B7F7-41F9-A71D-6E2C9D3887A2}"/>
              </a:ext>
            </a:extLst>
          </p:cNvPr>
          <p:cNvPicPr>
            <a:picLocks noChangeAspect="1"/>
          </p:cNvPicPr>
          <p:nvPr/>
        </p:nvPicPr>
        <p:blipFill>
          <a:blip r:embed="rId2"/>
          <a:stretch>
            <a:fillRect/>
          </a:stretch>
        </p:blipFill>
        <p:spPr>
          <a:xfrm>
            <a:off x="557212" y="1952625"/>
            <a:ext cx="10144125" cy="895350"/>
          </a:xfrm>
          <a:prstGeom prst="rect">
            <a:avLst/>
          </a:prstGeom>
        </p:spPr>
      </p:pic>
      <p:pic>
        <p:nvPicPr>
          <p:cNvPr id="4" name="Picture 3">
            <a:extLst>
              <a:ext uri="{FF2B5EF4-FFF2-40B4-BE49-F238E27FC236}">
                <a16:creationId xmlns:a16="http://schemas.microsoft.com/office/drawing/2014/main" id="{3A46CC8D-5AC3-4999-9824-0CDD5972A094}"/>
              </a:ext>
            </a:extLst>
          </p:cNvPr>
          <p:cNvPicPr>
            <a:picLocks noChangeAspect="1"/>
          </p:cNvPicPr>
          <p:nvPr/>
        </p:nvPicPr>
        <p:blipFill>
          <a:blip r:embed="rId3"/>
          <a:stretch>
            <a:fillRect/>
          </a:stretch>
        </p:blipFill>
        <p:spPr>
          <a:xfrm>
            <a:off x="557212" y="3428999"/>
            <a:ext cx="10040690" cy="2695575"/>
          </a:xfrm>
          <a:prstGeom prst="rect">
            <a:avLst/>
          </a:prstGeom>
        </p:spPr>
      </p:pic>
    </p:spTree>
    <p:extLst>
      <p:ext uri="{BB962C8B-B14F-4D97-AF65-F5344CB8AC3E}">
        <p14:creationId xmlns:p14="http://schemas.microsoft.com/office/powerpoint/2010/main" val="5745063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1898D-2A99-4278-97AB-404CEF8956EA}"/>
              </a:ext>
            </a:extLst>
          </p:cNvPr>
          <p:cNvSpPr>
            <a:spLocks noGrp="1"/>
          </p:cNvSpPr>
          <p:nvPr>
            <p:ph type="title"/>
          </p:nvPr>
        </p:nvSpPr>
        <p:spPr/>
        <p:txBody>
          <a:bodyPr/>
          <a:lstStyle/>
          <a:p>
            <a:r>
              <a:rPr lang="en-US" dirty="0"/>
              <a:t>KNN: Model</a:t>
            </a:r>
          </a:p>
        </p:txBody>
      </p:sp>
      <p:pic>
        <p:nvPicPr>
          <p:cNvPr id="3" name="Picture 2">
            <a:extLst>
              <a:ext uri="{FF2B5EF4-FFF2-40B4-BE49-F238E27FC236}">
                <a16:creationId xmlns:a16="http://schemas.microsoft.com/office/drawing/2014/main" id="{10FDBD03-7561-4C2D-8486-CE3075282D14}"/>
              </a:ext>
            </a:extLst>
          </p:cNvPr>
          <p:cNvPicPr>
            <a:picLocks noChangeAspect="1"/>
          </p:cNvPicPr>
          <p:nvPr/>
        </p:nvPicPr>
        <p:blipFill>
          <a:blip r:embed="rId2"/>
          <a:stretch>
            <a:fillRect/>
          </a:stretch>
        </p:blipFill>
        <p:spPr>
          <a:xfrm>
            <a:off x="1357312" y="2000249"/>
            <a:ext cx="8324669" cy="3952875"/>
          </a:xfrm>
          <a:prstGeom prst="rect">
            <a:avLst/>
          </a:prstGeom>
        </p:spPr>
      </p:pic>
    </p:spTree>
    <p:extLst>
      <p:ext uri="{BB962C8B-B14F-4D97-AF65-F5344CB8AC3E}">
        <p14:creationId xmlns:p14="http://schemas.microsoft.com/office/powerpoint/2010/main" val="507226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E158A-00CB-42EA-84C4-0CE2437954A2}"/>
              </a:ext>
            </a:extLst>
          </p:cNvPr>
          <p:cNvSpPr>
            <a:spLocks noGrp="1"/>
          </p:cNvSpPr>
          <p:nvPr>
            <p:ph type="title"/>
          </p:nvPr>
        </p:nvSpPr>
        <p:spPr/>
        <p:txBody>
          <a:bodyPr/>
          <a:lstStyle/>
          <a:p>
            <a:r>
              <a:rPr lang="en-US" dirty="0"/>
              <a:t>KNN: Model Summary</a:t>
            </a:r>
          </a:p>
        </p:txBody>
      </p:sp>
      <p:pic>
        <p:nvPicPr>
          <p:cNvPr id="3" name="Picture 2">
            <a:extLst>
              <a:ext uri="{FF2B5EF4-FFF2-40B4-BE49-F238E27FC236}">
                <a16:creationId xmlns:a16="http://schemas.microsoft.com/office/drawing/2014/main" id="{4CBC7288-83E9-4081-B54F-36472133AA54}"/>
              </a:ext>
            </a:extLst>
          </p:cNvPr>
          <p:cNvPicPr>
            <a:picLocks noChangeAspect="1"/>
          </p:cNvPicPr>
          <p:nvPr/>
        </p:nvPicPr>
        <p:blipFill>
          <a:blip r:embed="rId2"/>
          <a:stretch>
            <a:fillRect/>
          </a:stretch>
        </p:blipFill>
        <p:spPr>
          <a:xfrm>
            <a:off x="1066799" y="2005011"/>
            <a:ext cx="9474539" cy="1852614"/>
          </a:xfrm>
          <a:prstGeom prst="rect">
            <a:avLst/>
          </a:prstGeom>
        </p:spPr>
      </p:pic>
    </p:spTree>
    <p:extLst>
      <p:ext uri="{BB962C8B-B14F-4D97-AF65-F5344CB8AC3E}">
        <p14:creationId xmlns:p14="http://schemas.microsoft.com/office/powerpoint/2010/main" val="16872427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7F587-946C-45E3-B8CB-4627D70693C8}"/>
              </a:ext>
            </a:extLst>
          </p:cNvPr>
          <p:cNvSpPr>
            <a:spLocks noGrp="1"/>
          </p:cNvSpPr>
          <p:nvPr>
            <p:ph type="title"/>
          </p:nvPr>
        </p:nvSpPr>
        <p:spPr/>
        <p:txBody>
          <a:bodyPr/>
          <a:lstStyle/>
          <a:p>
            <a:r>
              <a:rPr lang="en-US" dirty="0"/>
              <a:t>KNN: Accuracy of the Model</a:t>
            </a:r>
          </a:p>
        </p:txBody>
      </p:sp>
      <p:pic>
        <p:nvPicPr>
          <p:cNvPr id="3" name="Picture 2">
            <a:extLst>
              <a:ext uri="{FF2B5EF4-FFF2-40B4-BE49-F238E27FC236}">
                <a16:creationId xmlns:a16="http://schemas.microsoft.com/office/drawing/2014/main" id="{89E0C275-AD15-4E3F-A97A-53C8456ECB34}"/>
              </a:ext>
            </a:extLst>
          </p:cNvPr>
          <p:cNvPicPr>
            <a:picLocks noChangeAspect="1"/>
          </p:cNvPicPr>
          <p:nvPr/>
        </p:nvPicPr>
        <p:blipFill>
          <a:blip r:embed="rId2"/>
          <a:stretch>
            <a:fillRect/>
          </a:stretch>
        </p:blipFill>
        <p:spPr>
          <a:xfrm>
            <a:off x="1261872" y="2290762"/>
            <a:ext cx="8738091" cy="1481138"/>
          </a:xfrm>
          <a:prstGeom prst="rect">
            <a:avLst/>
          </a:prstGeom>
        </p:spPr>
      </p:pic>
    </p:spTree>
    <p:extLst>
      <p:ext uri="{BB962C8B-B14F-4D97-AF65-F5344CB8AC3E}">
        <p14:creationId xmlns:p14="http://schemas.microsoft.com/office/powerpoint/2010/main" val="27030703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4D94E-0F50-4A55-9E01-77F7B20E6C3A}"/>
              </a:ext>
            </a:extLst>
          </p:cNvPr>
          <p:cNvSpPr>
            <a:spLocks noGrp="1"/>
          </p:cNvSpPr>
          <p:nvPr>
            <p:ph type="title"/>
          </p:nvPr>
        </p:nvSpPr>
        <p:spPr/>
        <p:txBody>
          <a:bodyPr/>
          <a:lstStyle/>
          <a:p>
            <a:r>
              <a:rPr lang="en-US" dirty="0"/>
              <a:t>KNN: Confusion </a:t>
            </a:r>
            <a:r>
              <a:rPr lang="en-US" dirty="0" err="1"/>
              <a:t>Matrics</a:t>
            </a:r>
            <a:endParaRPr lang="en-US" dirty="0"/>
          </a:p>
        </p:txBody>
      </p:sp>
      <p:pic>
        <p:nvPicPr>
          <p:cNvPr id="3" name="Picture 2">
            <a:extLst>
              <a:ext uri="{FF2B5EF4-FFF2-40B4-BE49-F238E27FC236}">
                <a16:creationId xmlns:a16="http://schemas.microsoft.com/office/drawing/2014/main" id="{8CAA5EEB-2D1C-4244-9303-B4F5090451E8}"/>
              </a:ext>
            </a:extLst>
          </p:cNvPr>
          <p:cNvPicPr>
            <a:picLocks noChangeAspect="1"/>
          </p:cNvPicPr>
          <p:nvPr/>
        </p:nvPicPr>
        <p:blipFill>
          <a:blip r:embed="rId2"/>
          <a:stretch>
            <a:fillRect/>
          </a:stretch>
        </p:blipFill>
        <p:spPr>
          <a:xfrm>
            <a:off x="1423987" y="2276475"/>
            <a:ext cx="7795683" cy="2209800"/>
          </a:xfrm>
          <a:prstGeom prst="rect">
            <a:avLst/>
          </a:prstGeom>
        </p:spPr>
      </p:pic>
    </p:spTree>
    <p:extLst>
      <p:ext uri="{BB962C8B-B14F-4D97-AF65-F5344CB8AC3E}">
        <p14:creationId xmlns:p14="http://schemas.microsoft.com/office/powerpoint/2010/main" val="17535420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131C1-8743-4AC4-858F-6C7D81A0664C}"/>
              </a:ext>
            </a:extLst>
          </p:cNvPr>
          <p:cNvSpPr>
            <a:spLocks noGrp="1"/>
          </p:cNvSpPr>
          <p:nvPr>
            <p:ph type="title"/>
          </p:nvPr>
        </p:nvSpPr>
        <p:spPr/>
        <p:txBody>
          <a:bodyPr/>
          <a:lstStyle/>
          <a:p>
            <a:r>
              <a:rPr lang="en-US" dirty="0"/>
              <a:t>Logistic Regression Model</a:t>
            </a:r>
          </a:p>
        </p:txBody>
      </p:sp>
      <p:sp>
        <p:nvSpPr>
          <p:cNvPr id="3" name="Content Placeholder 2">
            <a:extLst>
              <a:ext uri="{FF2B5EF4-FFF2-40B4-BE49-F238E27FC236}">
                <a16:creationId xmlns:a16="http://schemas.microsoft.com/office/drawing/2014/main" id="{F2B980C3-1103-4326-8F0F-20D0F6FB310E}"/>
              </a:ext>
            </a:extLst>
          </p:cNvPr>
          <p:cNvSpPr>
            <a:spLocks noGrp="1"/>
          </p:cNvSpPr>
          <p:nvPr>
            <p:ph idx="1"/>
          </p:nvPr>
        </p:nvSpPr>
        <p:spPr>
          <a:xfrm>
            <a:off x="1261872" y="1828800"/>
            <a:ext cx="6034278" cy="4351337"/>
          </a:xfrm>
        </p:spPr>
        <p:txBody>
          <a:bodyPr/>
          <a:lstStyle/>
          <a:p>
            <a:r>
              <a:rPr lang="en-US" dirty="0"/>
              <a:t>Logistic Regression is the statistical based model which is used for classifications. </a:t>
            </a:r>
          </a:p>
          <a:p>
            <a:r>
              <a:rPr lang="en-US" dirty="0"/>
              <a:t>The logistic regression model is used to predict the nominal values. </a:t>
            </a:r>
          </a:p>
          <a:p>
            <a:r>
              <a:rPr lang="en-US" dirty="0"/>
              <a:t>Logistic regression calculates the probability using log(odds)</a:t>
            </a:r>
          </a:p>
        </p:txBody>
      </p:sp>
    </p:spTree>
    <p:extLst>
      <p:ext uri="{BB962C8B-B14F-4D97-AF65-F5344CB8AC3E}">
        <p14:creationId xmlns:p14="http://schemas.microsoft.com/office/powerpoint/2010/main" val="2816022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F19CE-B6F2-4C64-AA3D-62C6B810015C}"/>
              </a:ext>
            </a:extLst>
          </p:cNvPr>
          <p:cNvSpPr>
            <a:spLocks noGrp="1"/>
          </p:cNvSpPr>
          <p:nvPr>
            <p:ph type="title"/>
          </p:nvPr>
        </p:nvSpPr>
        <p:spPr/>
        <p:txBody>
          <a:bodyPr/>
          <a:lstStyle/>
          <a:p>
            <a:r>
              <a:rPr lang="en-US" dirty="0"/>
              <a:t>Logistic Regression Model: Data set</a:t>
            </a:r>
          </a:p>
        </p:txBody>
      </p:sp>
      <p:pic>
        <p:nvPicPr>
          <p:cNvPr id="4" name="Picture 3">
            <a:extLst>
              <a:ext uri="{FF2B5EF4-FFF2-40B4-BE49-F238E27FC236}">
                <a16:creationId xmlns:a16="http://schemas.microsoft.com/office/drawing/2014/main" id="{C001E6EA-1807-4EED-ACD7-299443741976}"/>
              </a:ext>
            </a:extLst>
          </p:cNvPr>
          <p:cNvPicPr>
            <a:picLocks noChangeAspect="1"/>
          </p:cNvPicPr>
          <p:nvPr/>
        </p:nvPicPr>
        <p:blipFill>
          <a:blip r:embed="rId2"/>
          <a:stretch>
            <a:fillRect/>
          </a:stretch>
        </p:blipFill>
        <p:spPr>
          <a:xfrm>
            <a:off x="466725" y="2300287"/>
            <a:ext cx="10801350" cy="2462213"/>
          </a:xfrm>
          <a:prstGeom prst="rect">
            <a:avLst/>
          </a:prstGeom>
        </p:spPr>
      </p:pic>
    </p:spTree>
    <p:extLst>
      <p:ext uri="{BB962C8B-B14F-4D97-AF65-F5344CB8AC3E}">
        <p14:creationId xmlns:p14="http://schemas.microsoft.com/office/powerpoint/2010/main" val="6132717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945DA-0432-4D67-8599-3A3117C8BEBC}"/>
              </a:ext>
            </a:extLst>
          </p:cNvPr>
          <p:cNvSpPr>
            <a:spLocks noGrp="1"/>
          </p:cNvSpPr>
          <p:nvPr>
            <p:ph type="title"/>
          </p:nvPr>
        </p:nvSpPr>
        <p:spPr/>
        <p:txBody>
          <a:bodyPr/>
          <a:lstStyle/>
          <a:p>
            <a:r>
              <a:rPr lang="en-US" dirty="0"/>
              <a:t>Logistic Regression Model: Scaling</a:t>
            </a:r>
          </a:p>
        </p:txBody>
      </p:sp>
      <p:pic>
        <p:nvPicPr>
          <p:cNvPr id="3" name="Picture 2">
            <a:extLst>
              <a:ext uri="{FF2B5EF4-FFF2-40B4-BE49-F238E27FC236}">
                <a16:creationId xmlns:a16="http://schemas.microsoft.com/office/drawing/2014/main" id="{57A5524C-0E8E-406C-9DBD-48E626203E80}"/>
              </a:ext>
            </a:extLst>
          </p:cNvPr>
          <p:cNvPicPr>
            <a:picLocks noChangeAspect="1"/>
          </p:cNvPicPr>
          <p:nvPr/>
        </p:nvPicPr>
        <p:blipFill>
          <a:blip r:embed="rId2"/>
          <a:stretch>
            <a:fillRect/>
          </a:stretch>
        </p:blipFill>
        <p:spPr>
          <a:xfrm>
            <a:off x="1052512" y="2505075"/>
            <a:ext cx="9215895" cy="3067050"/>
          </a:xfrm>
          <a:prstGeom prst="rect">
            <a:avLst/>
          </a:prstGeom>
        </p:spPr>
      </p:pic>
    </p:spTree>
    <p:extLst>
      <p:ext uri="{BB962C8B-B14F-4D97-AF65-F5344CB8AC3E}">
        <p14:creationId xmlns:p14="http://schemas.microsoft.com/office/powerpoint/2010/main" val="11682383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8E8BB-63D8-46E2-9D1C-63E13D70A443}"/>
              </a:ext>
            </a:extLst>
          </p:cNvPr>
          <p:cNvSpPr>
            <a:spLocks noGrp="1"/>
          </p:cNvSpPr>
          <p:nvPr>
            <p:ph type="title"/>
          </p:nvPr>
        </p:nvSpPr>
        <p:spPr/>
        <p:txBody>
          <a:bodyPr/>
          <a:lstStyle/>
          <a:p>
            <a:r>
              <a:rPr lang="en-US" dirty="0"/>
              <a:t>Logistic Regression Model: Scaling</a:t>
            </a:r>
          </a:p>
        </p:txBody>
      </p:sp>
      <p:pic>
        <p:nvPicPr>
          <p:cNvPr id="3" name="Picture 2">
            <a:extLst>
              <a:ext uri="{FF2B5EF4-FFF2-40B4-BE49-F238E27FC236}">
                <a16:creationId xmlns:a16="http://schemas.microsoft.com/office/drawing/2014/main" id="{27D0A3B6-34C1-483B-9C31-D897D51828D2}"/>
              </a:ext>
            </a:extLst>
          </p:cNvPr>
          <p:cNvPicPr>
            <a:picLocks noChangeAspect="1"/>
          </p:cNvPicPr>
          <p:nvPr/>
        </p:nvPicPr>
        <p:blipFill>
          <a:blip r:embed="rId2"/>
          <a:stretch>
            <a:fillRect/>
          </a:stretch>
        </p:blipFill>
        <p:spPr>
          <a:xfrm>
            <a:off x="409575" y="2243931"/>
            <a:ext cx="10658475" cy="2309813"/>
          </a:xfrm>
          <a:prstGeom prst="rect">
            <a:avLst/>
          </a:prstGeom>
        </p:spPr>
      </p:pic>
    </p:spTree>
    <p:extLst>
      <p:ext uri="{BB962C8B-B14F-4D97-AF65-F5344CB8AC3E}">
        <p14:creationId xmlns:p14="http://schemas.microsoft.com/office/powerpoint/2010/main" val="11202197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AE65B-70B0-4F47-B951-1CF7ACD45657}"/>
              </a:ext>
            </a:extLst>
          </p:cNvPr>
          <p:cNvSpPr>
            <a:spLocks noGrp="1"/>
          </p:cNvSpPr>
          <p:nvPr>
            <p:ph type="title"/>
          </p:nvPr>
        </p:nvSpPr>
        <p:spPr/>
        <p:txBody>
          <a:bodyPr/>
          <a:lstStyle/>
          <a:p>
            <a:r>
              <a:rPr lang="en-US" dirty="0"/>
              <a:t>Logistic Regression : Training and testing the data.</a:t>
            </a:r>
          </a:p>
        </p:txBody>
      </p:sp>
      <p:pic>
        <p:nvPicPr>
          <p:cNvPr id="3" name="Picture 2">
            <a:extLst>
              <a:ext uri="{FF2B5EF4-FFF2-40B4-BE49-F238E27FC236}">
                <a16:creationId xmlns:a16="http://schemas.microsoft.com/office/drawing/2014/main" id="{B1806563-23B0-43F7-846A-B5D915CC4D4A}"/>
              </a:ext>
            </a:extLst>
          </p:cNvPr>
          <p:cNvPicPr>
            <a:picLocks noChangeAspect="1"/>
          </p:cNvPicPr>
          <p:nvPr/>
        </p:nvPicPr>
        <p:blipFill>
          <a:blip r:embed="rId2"/>
          <a:stretch>
            <a:fillRect/>
          </a:stretch>
        </p:blipFill>
        <p:spPr>
          <a:xfrm>
            <a:off x="1466849" y="1938337"/>
            <a:ext cx="6410325" cy="3745792"/>
          </a:xfrm>
          <a:prstGeom prst="rect">
            <a:avLst/>
          </a:prstGeom>
        </p:spPr>
      </p:pic>
    </p:spTree>
    <p:extLst>
      <p:ext uri="{BB962C8B-B14F-4D97-AF65-F5344CB8AC3E}">
        <p14:creationId xmlns:p14="http://schemas.microsoft.com/office/powerpoint/2010/main" val="10572166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8BB45-BA1C-4B79-A963-29960A41BADE}"/>
              </a:ext>
            </a:extLst>
          </p:cNvPr>
          <p:cNvSpPr>
            <a:spLocks noGrp="1"/>
          </p:cNvSpPr>
          <p:nvPr>
            <p:ph type="title"/>
          </p:nvPr>
        </p:nvSpPr>
        <p:spPr/>
        <p:txBody>
          <a:bodyPr/>
          <a:lstStyle/>
          <a:p>
            <a:r>
              <a:rPr lang="en-US" dirty="0"/>
              <a:t>Logistic Regression: Training and Testing the data</a:t>
            </a:r>
          </a:p>
        </p:txBody>
      </p:sp>
      <p:pic>
        <p:nvPicPr>
          <p:cNvPr id="3" name="Picture 2">
            <a:extLst>
              <a:ext uri="{FF2B5EF4-FFF2-40B4-BE49-F238E27FC236}">
                <a16:creationId xmlns:a16="http://schemas.microsoft.com/office/drawing/2014/main" id="{EBDFAA7D-114A-4184-9931-F0A27D26CC51}"/>
              </a:ext>
            </a:extLst>
          </p:cNvPr>
          <p:cNvPicPr>
            <a:picLocks noChangeAspect="1"/>
          </p:cNvPicPr>
          <p:nvPr/>
        </p:nvPicPr>
        <p:blipFill>
          <a:blip r:embed="rId2"/>
          <a:stretch>
            <a:fillRect/>
          </a:stretch>
        </p:blipFill>
        <p:spPr>
          <a:xfrm>
            <a:off x="190500" y="2081212"/>
            <a:ext cx="11096625" cy="3114675"/>
          </a:xfrm>
          <a:prstGeom prst="rect">
            <a:avLst/>
          </a:prstGeom>
        </p:spPr>
      </p:pic>
    </p:spTree>
    <p:extLst>
      <p:ext uri="{BB962C8B-B14F-4D97-AF65-F5344CB8AC3E}">
        <p14:creationId xmlns:p14="http://schemas.microsoft.com/office/powerpoint/2010/main" val="35486420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BF0186-40BA-46B6-A62C-6DC4708B4E8D}"/>
              </a:ext>
            </a:extLst>
          </p:cNvPr>
          <p:cNvSpPr>
            <a:spLocks noGrp="1"/>
          </p:cNvSpPr>
          <p:nvPr>
            <p:ph type="title"/>
          </p:nvPr>
        </p:nvSpPr>
        <p:spPr/>
        <p:txBody>
          <a:bodyPr/>
          <a:lstStyle/>
          <a:p>
            <a:r>
              <a:rPr lang="en-US" dirty="0"/>
              <a:t>Logistic Regression: Converting the dependent variable into binary.</a:t>
            </a:r>
          </a:p>
        </p:txBody>
      </p:sp>
      <p:pic>
        <p:nvPicPr>
          <p:cNvPr id="3" name="Picture 2">
            <a:extLst>
              <a:ext uri="{FF2B5EF4-FFF2-40B4-BE49-F238E27FC236}">
                <a16:creationId xmlns:a16="http://schemas.microsoft.com/office/drawing/2014/main" id="{46F25F76-21C7-4956-B3CB-9FEEA9D8DF28}"/>
              </a:ext>
            </a:extLst>
          </p:cNvPr>
          <p:cNvPicPr>
            <a:picLocks noChangeAspect="1"/>
          </p:cNvPicPr>
          <p:nvPr/>
        </p:nvPicPr>
        <p:blipFill>
          <a:blip r:embed="rId2"/>
          <a:stretch>
            <a:fillRect/>
          </a:stretch>
        </p:blipFill>
        <p:spPr>
          <a:xfrm>
            <a:off x="1066800" y="2038350"/>
            <a:ext cx="4819650" cy="3028950"/>
          </a:xfrm>
          <a:prstGeom prst="rect">
            <a:avLst/>
          </a:prstGeom>
        </p:spPr>
      </p:pic>
    </p:spTree>
    <p:extLst>
      <p:ext uri="{BB962C8B-B14F-4D97-AF65-F5344CB8AC3E}">
        <p14:creationId xmlns:p14="http://schemas.microsoft.com/office/powerpoint/2010/main" val="40274246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79D97-37CB-47F5-A94A-A34A0CE4C829}"/>
              </a:ext>
            </a:extLst>
          </p:cNvPr>
          <p:cNvSpPr>
            <a:spLocks noGrp="1"/>
          </p:cNvSpPr>
          <p:nvPr>
            <p:ph type="title"/>
          </p:nvPr>
        </p:nvSpPr>
        <p:spPr/>
        <p:txBody>
          <a:bodyPr/>
          <a:lstStyle/>
          <a:p>
            <a:r>
              <a:rPr lang="en-US" dirty="0"/>
              <a:t>Logistic Regression: Converting the dependent variable into binary.</a:t>
            </a:r>
          </a:p>
        </p:txBody>
      </p:sp>
      <p:pic>
        <p:nvPicPr>
          <p:cNvPr id="3" name="Picture 2">
            <a:extLst>
              <a:ext uri="{FF2B5EF4-FFF2-40B4-BE49-F238E27FC236}">
                <a16:creationId xmlns:a16="http://schemas.microsoft.com/office/drawing/2014/main" id="{EA0DA9D2-C154-4DC6-BDBA-EC28330C0F5C}"/>
              </a:ext>
            </a:extLst>
          </p:cNvPr>
          <p:cNvPicPr>
            <a:picLocks noChangeAspect="1"/>
          </p:cNvPicPr>
          <p:nvPr/>
        </p:nvPicPr>
        <p:blipFill>
          <a:blip r:embed="rId2"/>
          <a:stretch>
            <a:fillRect/>
          </a:stretch>
        </p:blipFill>
        <p:spPr>
          <a:xfrm>
            <a:off x="352425" y="1681162"/>
            <a:ext cx="10887075" cy="3495675"/>
          </a:xfrm>
          <a:prstGeom prst="rect">
            <a:avLst/>
          </a:prstGeom>
        </p:spPr>
      </p:pic>
    </p:spTree>
    <p:extLst>
      <p:ext uri="{BB962C8B-B14F-4D97-AF65-F5344CB8AC3E}">
        <p14:creationId xmlns:p14="http://schemas.microsoft.com/office/powerpoint/2010/main" val="39241362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8DE9F-C0E7-490C-BB13-22B73A56AA04}"/>
              </a:ext>
            </a:extLst>
          </p:cNvPr>
          <p:cNvSpPr>
            <a:spLocks noGrp="1"/>
          </p:cNvSpPr>
          <p:nvPr>
            <p:ph type="title"/>
          </p:nvPr>
        </p:nvSpPr>
        <p:spPr>
          <a:xfrm>
            <a:off x="1249679" y="95250"/>
            <a:ext cx="9692640" cy="619125"/>
          </a:xfrm>
        </p:spPr>
        <p:txBody>
          <a:bodyPr>
            <a:normAutofit fontScale="90000"/>
          </a:bodyPr>
          <a:lstStyle/>
          <a:p>
            <a:r>
              <a:rPr lang="en-US" dirty="0"/>
              <a:t>Logistic Regression: Model</a:t>
            </a:r>
          </a:p>
        </p:txBody>
      </p:sp>
      <p:pic>
        <p:nvPicPr>
          <p:cNvPr id="3" name="Picture 2">
            <a:extLst>
              <a:ext uri="{FF2B5EF4-FFF2-40B4-BE49-F238E27FC236}">
                <a16:creationId xmlns:a16="http://schemas.microsoft.com/office/drawing/2014/main" id="{CCCDF293-C29E-466D-B294-BDC9B96A5CD2}"/>
              </a:ext>
            </a:extLst>
          </p:cNvPr>
          <p:cNvPicPr>
            <a:picLocks noChangeAspect="1"/>
          </p:cNvPicPr>
          <p:nvPr/>
        </p:nvPicPr>
        <p:blipFill>
          <a:blip r:embed="rId2"/>
          <a:stretch>
            <a:fillRect/>
          </a:stretch>
        </p:blipFill>
        <p:spPr>
          <a:xfrm>
            <a:off x="6201284" y="714375"/>
            <a:ext cx="4741035" cy="6048375"/>
          </a:xfrm>
          <a:prstGeom prst="rect">
            <a:avLst/>
          </a:prstGeom>
        </p:spPr>
      </p:pic>
      <p:pic>
        <p:nvPicPr>
          <p:cNvPr id="4" name="Picture 3">
            <a:extLst>
              <a:ext uri="{FF2B5EF4-FFF2-40B4-BE49-F238E27FC236}">
                <a16:creationId xmlns:a16="http://schemas.microsoft.com/office/drawing/2014/main" id="{4FC85339-B7B3-4816-868B-A63C8BAB2D47}"/>
              </a:ext>
            </a:extLst>
          </p:cNvPr>
          <p:cNvPicPr>
            <a:picLocks noChangeAspect="1"/>
          </p:cNvPicPr>
          <p:nvPr/>
        </p:nvPicPr>
        <p:blipFill>
          <a:blip r:embed="rId3"/>
          <a:stretch>
            <a:fillRect/>
          </a:stretch>
        </p:blipFill>
        <p:spPr>
          <a:xfrm>
            <a:off x="76709" y="1262062"/>
            <a:ext cx="6019291" cy="862013"/>
          </a:xfrm>
          <a:prstGeom prst="rect">
            <a:avLst/>
          </a:prstGeom>
        </p:spPr>
      </p:pic>
    </p:spTree>
    <p:extLst>
      <p:ext uri="{BB962C8B-B14F-4D97-AF65-F5344CB8AC3E}">
        <p14:creationId xmlns:p14="http://schemas.microsoft.com/office/powerpoint/2010/main" val="16989938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1D468-55F2-483D-B8A2-16B298757088}"/>
              </a:ext>
            </a:extLst>
          </p:cNvPr>
          <p:cNvSpPr>
            <a:spLocks noGrp="1"/>
          </p:cNvSpPr>
          <p:nvPr>
            <p:ph type="title"/>
          </p:nvPr>
        </p:nvSpPr>
        <p:spPr/>
        <p:txBody>
          <a:bodyPr/>
          <a:lstStyle/>
          <a:p>
            <a:r>
              <a:rPr lang="en-US" dirty="0"/>
              <a:t>Logistic Regression: Res &amp; Accuracy Calculation</a:t>
            </a:r>
          </a:p>
        </p:txBody>
      </p:sp>
      <p:pic>
        <p:nvPicPr>
          <p:cNvPr id="3" name="Picture 2">
            <a:extLst>
              <a:ext uri="{FF2B5EF4-FFF2-40B4-BE49-F238E27FC236}">
                <a16:creationId xmlns:a16="http://schemas.microsoft.com/office/drawing/2014/main" id="{669A5DF4-378A-47F7-9C7D-8399D011D764}"/>
              </a:ext>
            </a:extLst>
          </p:cNvPr>
          <p:cNvPicPr>
            <a:picLocks noChangeAspect="1"/>
          </p:cNvPicPr>
          <p:nvPr/>
        </p:nvPicPr>
        <p:blipFill>
          <a:blip r:embed="rId2"/>
          <a:stretch>
            <a:fillRect/>
          </a:stretch>
        </p:blipFill>
        <p:spPr>
          <a:xfrm>
            <a:off x="174117" y="1847849"/>
            <a:ext cx="5471211" cy="2819399"/>
          </a:xfrm>
          <a:prstGeom prst="rect">
            <a:avLst/>
          </a:prstGeom>
        </p:spPr>
      </p:pic>
      <p:pic>
        <p:nvPicPr>
          <p:cNvPr id="4" name="Picture 3">
            <a:extLst>
              <a:ext uri="{FF2B5EF4-FFF2-40B4-BE49-F238E27FC236}">
                <a16:creationId xmlns:a16="http://schemas.microsoft.com/office/drawing/2014/main" id="{F8BA87CC-F5B4-4DF4-860B-B206FECAB432}"/>
              </a:ext>
            </a:extLst>
          </p:cNvPr>
          <p:cNvPicPr>
            <a:picLocks noChangeAspect="1"/>
          </p:cNvPicPr>
          <p:nvPr/>
        </p:nvPicPr>
        <p:blipFill>
          <a:blip r:embed="rId3"/>
          <a:stretch>
            <a:fillRect/>
          </a:stretch>
        </p:blipFill>
        <p:spPr>
          <a:xfrm>
            <a:off x="6096000" y="1847850"/>
            <a:ext cx="5162550" cy="2819400"/>
          </a:xfrm>
          <a:prstGeom prst="rect">
            <a:avLst/>
          </a:prstGeom>
        </p:spPr>
      </p:pic>
    </p:spTree>
    <p:extLst>
      <p:ext uri="{BB962C8B-B14F-4D97-AF65-F5344CB8AC3E}">
        <p14:creationId xmlns:p14="http://schemas.microsoft.com/office/powerpoint/2010/main" val="7535165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174241-0849-4D3B-BF8C-6552EB2898EA}"/>
              </a:ext>
            </a:extLst>
          </p:cNvPr>
          <p:cNvSpPr>
            <a:spLocks noGrp="1"/>
          </p:cNvSpPr>
          <p:nvPr>
            <p:ph type="title"/>
          </p:nvPr>
        </p:nvSpPr>
        <p:spPr/>
        <p:txBody>
          <a:bodyPr/>
          <a:lstStyle/>
          <a:p>
            <a:r>
              <a:rPr lang="en-US" dirty="0"/>
              <a:t>Gradient Boosting Model</a:t>
            </a:r>
          </a:p>
        </p:txBody>
      </p:sp>
      <p:sp>
        <p:nvSpPr>
          <p:cNvPr id="3" name="Content Placeholder 2">
            <a:extLst>
              <a:ext uri="{FF2B5EF4-FFF2-40B4-BE49-F238E27FC236}">
                <a16:creationId xmlns:a16="http://schemas.microsoft.com/office/drawing/2014/main" id="{522168FB-CD15-4C07-8745-C8205CA73C3A}"/>
              </a:ext>
            </a:extLst>
          </p:cNvPr>
          <p:cNvSpPr>
            <a:spLocks noGrp="1"/>
          </p:cNvSpPr>
          <p:nvPr>
            <p:ph idx="1"/>
          </p:nvPr>
        </p:nvSpPr>
        <p:spPr>
          <a:xfrm>
            <a:off x="1261872" y="1828800"/>
            <a:ext cx="4700778" cy="4351337"/>
          </a:xfrm>
        </p:spPr>
        <p:txBody>
          <a:bodyPr/>
          <a:lstStyle/>
          <a:p>
            <a:r>
              <a:rPr lang="en-US" dirty="0"/>
              <a:t>The Gradient boosting is the technique which is used for regression and classification.</a:t>
            </a:r>
          </a:p>
          <a:p>
            <a:r>
              <a:rPr lang="en-US" dirty="0"/>
              <a:t>It produces a prediction model, the most common one is the decision tree. </a:t>
            </a:r>
          </a:p>
        </p:txBody>
      </p:sp>
    </p:spTree>
    <p:extLst>
      <p:ext uri="{BB962C8B-B14F-4D97-AF65-F5344CB8AC3E}">
        <p14:creationId xmlns:p14="http://schemas.microsoft.com/office/powerpoint/2010/main" val="606720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E470B-F22E-4823-87B5-EA8944B5BD43}"/>
              </a:ext>
            </a:extLst>
          </p:cNvPr>
          <p:cNvSpPr>
            <a:spLocks noGrp="1"/>
          </p:cNvSpPr>
          <p:nvPr>
            <p:ph type="title"/>
          </p:nvPr>
        </p:nvSpPr>
        <p:spPr/>
        <p:txBody>
          <a:bodyPr/>
          <a:lstStyle/>
          <a:p>
            <a:r>
              <a:rPr lang="en-US" dirty="0"/>
              <a:t>Gradient Boosting: Scaling</a:t>
            </a:r>
          </a:p>
        </p:txBody>
      </p:sp>
      <p:pic>
        <p:nvPicPr>
          <p:cNvPr id="3" name="Picture 2">
            <a:extLst>
              <a:ext uri="{FF2B5EF4-FFF2-40B4-BE49-F238E27FC236}">
                <a16:creationId xmlns:a16="http://schemas.microsoft.com/office/drawing/2014/main" id="{C7DDC064-73E5-4B32-A38B-E0F41A6BF2DF}"/>
              </a:ext>
            </a:extLst>
          </p:cNvPr>
          <p:cNvPicPr>
            <a:picLocks noChangeAspect="1"/>
          </p:cNvPicPr>
          <p:nvPr/>
        </p:nvPicPr>
        <p:blipFill>
          <a:blip r:embed="rId2"/>
          <a:stretch>
            <a:fillRect/>
          </a:stretch>
        </p:blipFill>
        <p:spPr>
          <a:xfrm>
            <a:off x="1311330" y="2213767"/>
            <a:ext cx="8566219" cy="3110708"/>
          </a:xfrm>
          <a:prstGeom prst="rect">
            <a:avLst/>
          </a:prstGeom>
        </p:spPr>
      </p:pic>
    </p:spTree>
    <p:extLst>
      <p:ext uri="{BB962C8B-B14F-4D97-AF65-F5344CB8AC3E}">
        <p14:creationId xmlns:p14="http://schemas.microsoft.com/office/powerpoint/2010/main" val="29323916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FB22B-CFAD-4FC2-BB2D-2499082BE12D}"/>
              </a:ext>
            </a:extLst>
          </p:cNvPr>
          <p:cNvSpPr>
            <a:spLocks noGrp="1"/>
          </p:cNvSpPr>
          <p:nvPr>
            <p:ph type="title"/>
          </p:nvPr>
        </p:nvSpPr>
        <p:spPr/>
        <p:txBody>
          <a:bodyPr/>
          <a:lstStyle/>
          <a:p>
            <a:r>
              <a:rPr lang="en-US" dirty="0"/>
              <a:t>Gradient Boosting: Testing and Training.</a:t>
            </a:r>
          </a:p>
        </p:txBody>
      </p:sp>
      <p:pic>
        <p:nvPicPr>
          <p:cNvPr id="3" name="Picture 2">
            <a:extLst>
              <a:ext uri="{FF2B5EF4-FFF2-40B4-BE49-F238E27FC236}">
                <a16:creationId xmlns:a16="http://schemas.microsoft.com/office/drawing/2014/main" id="{46EA51EE-73D8-418B-8EB4-0C5A844E245D}"/>
              </a:ext>
            </a:extLst>
          </p:cNvPr>
          <p:cNvPicPr>
            <a:picLocks noChangeAspect="1"/>
          </p:cNvPicPr>
          <p:nvPr/>
        </p:nvPicPr>
        <p:blipFill>
          <a:blip r:embed="rId2"/>
          <a:stretch>
            <a:fillRect/>
          </a:stretch>
        </p:blipFill>
        <p:spPr>
          <a:xfrm>
            <a:off x="2824162" y="2185987"/>
            <a:ext cx="5699861" cy="3309938"/>
          </a:xfrm>
          <a:prstGeom prst="rect">
            <a:avLst/>
          </a:prstGeom>
        </p:spPr>
      </p:pic>
    </p:spTree>
    <p:extLst>
      <p:ext uri="{BB962C8B-B14F-4D97-AF65-F5344CB8AC3E}">
        <p14:creationId xmlns:p14="http://schemas.microsoft.com/office/powerpoint/2010/main" val="19511943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B1A70-E8AD-4A7F-A47D-F28F968578BA}"/>
              </a:ext>
            </a:extLst>
          </p:cNvPr>
          <p:cNvSpPr>
            <a:spLocks noGrp="1"/>
          </p:cNvSpPr>
          <p:nvPr>
            <p:ph type="title"/>
          </p:nvPr>
        </p:nvSpPr>
        <p:spPr/>
        <p:txBody>
          <a:bodyPr/>
          <a:lstStyle/>
          <a:p>
            <a:r>
              <a:rPr lang="en-US" dirty="0"/>
              <a:t>Gradient Boosting: Converting the Dependent Variable into Binary</a:t>
            </a:r>
          </a:p>
        </p:txBody>
      </p:sp>
      <p:pic>
        <p:nvPicPr>
          <p:cNvPr id="3" name="Picture 2">
            <a:extLst>
              <a:ext uri="{FF2B5EF4-FFF2-40B4-BE49-F238E27FC236}">
                <a16:creationId xmlns:a16="http://schemas.microsoft.com/office/drawing/2014/main" id="{3BD470A8-D60D-4648-9959-72FB3D7B4C9B}"/>
              </a:ext>
            </a:extLst>
          </p:cNvPr>
          <p:cNvPicPr>
            <a:picLocks noChangeAspect="1"/>
          </p:cNvPicPr>
          <p:nvPr/>
        </p:nvPicPr>
        <p:blipFill>
          <a:blip r:embed="rId2"/>
          <a:stretch>
            <a:fillRect/>
          </a:stretch>
        </p:blipFill>
        <p:spPr>
          <a:xfrm>
            <a:off x="123825" y="1691322"/>
            <a:ext cx="4248150" cy="3743325"/>
          </a:xfrm>
          <a:prstGeom prst="rect">
            <a:avLst/>
          </a:prstGeom>
        </p:spPr>
      </p:pic>
      <p:pic>
        <p:nvPicPr>
          <p:cNvPr id="4" name="Picture 3">
            <a:extLst>
              <a:ext uri="{FF2B5EF4-FFF2-40B4-BE49-F238E27FC236}">
                <a16:creationId xmlns:a16="http://schemas.microsoft.com/office/drawing/2014/main" id="{007120DA-0839-42B0-92E7-41FD898DF658}"/>
              </a:ext>
            </a:extLst>
          </p:cNvPr>
          <p:cNvPicPr>
            <a:picLocks noChangeAspect="1"/>
          </p:cNvPicPr>
          <p:nvPr/>
        </p:nvPicPr>
        <p:blipFill>
          <a:blip r:embed="rId3"/>
          <a:stretch>
            <a:fillRect/>
          </a:stretch>
        </p:blipFill>
        <p:spPr>
          <a:xfrm>
            <a:off x="4619625" y="1691322"/>
            <a:ext cx="6724650" cy="2809875"/>
          </a:xfrm>
          <a:prstGeom prst="rect">
            <a:avLst/>
          </a:prstGeom>
        </p:spPr>
      </p:pic>
      <p:pic>
        <p:nvPicPr>
          <p:cNvPr id="5" name="Picture 4">
            <a:extLst>
              <a:ext uri="{FF2B5EF4-FFF2-40B4-BE49-F238E27FC236}">
                <a16:creationId xmlns:a16="http://schemas.microsoft.com/office/drawing/2014/main" id="{6E5FFB2D-1DFC-4431-8E4A-8C4B2A872977}"/>
              </a:ext>
            </a:extLst>
          </p:cNvPr>
          <p:cNvPicPr>
            <a:picLocks noChangeAspect="1"/>
          </p:cNvPicPr>
          <p:nvPr/>
        </p:nvPicPr>
        <p:blipFill>
          <a:blip r:embed="rId4"/>
          <a:stretch>
            <a:fillRect/>
          </a:stretch>
        </p:blipFill>
        <p:spPr>
          <a:xfrm>
            <a:off x="4619625" y="4648200"/>
            <a:ext cx="6724650" cy="2095500"/>
          </a:xfrm>
          <a:prstGeom prst="rect">
            <a:avLst/>
          </a:prstGeom>
        </p:spPr>
      </p:pic>
    </p:spTree>
    <p:extLst>
      <p:ext uri="{BB962C8B-B14F-4D97-AF65-F5344CB8AC3E}">
        <p14:creationId xmlns:p14="http://schemas.microsoft.com/office/powerpoint/2010/main" val="39374437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D91BD-000F-4FA7-9CF2-2F9AE3829A16}"/>
              </a:ext>
            </a:extLst>
          </p:cNvPr>
          <p:cNvSpPr>
            <a:spLocks noGrp="1"/>
          </p:cNvSpPr>
          <p:nvPr>
            <p:ph type="title"/>
          </p:nvPr>
        </p:nvSpPr>
        <p:spPr>
          <a:xfrm>
            <a:off x="1249680" y="0"/>
            <a:ext cx="9692640" cy="847725"/>
          </a:xfrm>
        </p:spPr>
        <p:txBody>
          <a:bodyPr/>
          <a:lstStyle/>
          <a:p>
            <a:r>
              <a:rPr lang="en-US" dirty="0"/>
              <a:t>Gradient Boosting: Model</a:t>
            </a:r>
          </a:p>
        </p:txBody>
      </p:sp>
      <p:pic>
        <p:nvPicPr>
          <p:cNvPr id="4" name="Picture 3">
            <a:extLst>
              <a:ext uri="{FF2B5EF4-FFF2-40B4-BE49-F238E27FC236}">
                <a16:creationId xmlns:a16="http://schemas.microsoft.com/office/drawing/2014/main" id="{8D37062D-C16A-450B-AE36-FFC371E0DDCF}"/>
              </a:ext>
            </a:extLst>
          </p:cNvPr>
          <p:cNvPicPr>
            <a:picLocks noChangeAspect="1"/>
          </p:cNvPicPr>
          <p:nvPr/>
        </p:nvPicPr>
        <p:blipFill>
          <a:blip r:embed="rId2"/>
          <a:stretch>
            <a:fillRect/>
          </a:stretch>
        </p:blipFill>
        <p:spPr>
          <a:xfrm>
            <a:off x="442913" y="1152525"/>
            <a:ext cx="10377488" cy="5462587"/>
          </a:xfrm>
          <a:prstGeom prst="rect">
            <a:avLst/>
          </a:prstGeom>
        </p:spPr>
      </p:pic>
    </p:spTree>
    <p:extLst>
      <p:ext uri="{BB962C8B-B14F-4D97-AF65-F5344CB8AC3E}">
        <p14:creationId xmlns:p14="http://schemas.microsoft.com/office/powerpoint/2010/main" val="18175335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82213-BAA2-4C0A-A5BE-485884C9B764}"/>
              </a:ext>
            </a:extLst>
          </p:cNvPr>
          <p:cNvSpPr>
            <a:spLocks noGrp="1"/>
          </p:cNvSpPr>
          <p:nvPr>
            <p:ph type="title"/>
          </p:nvPr>
        </p:nvSpPr>
        <p:spPr>
          <a:xfrm>
            <a:off x="1249680" y="127635"/>
            <a:ext cx="9692640" cy="977265"/>
          </a:xfrm>
        </p:spPr>
        <p:txBody>
          <a:bodyPr/>
          <a:lstStyle/>
          <a:p>
            <a:r>
              <a:rPr lang="en-US" dirty="0"/>
              <a:t>Gradient Boosting: Model</a:t>
            </a:r>
          </a:p>
        </p:txBody>
      </p:sp>
      <p:pic>
        <p:nvPicPr>
          <p:cNvPr id="3" name="Picture 2">
            <a:extLst>
              <a:ext uri="{FF2B5EF4-FFF2-40B4-BE49-F238E27FC236}">
                <a16:creationId xmlns:a16="http://schemas.microsoft.com/office/drawing/2014/main" id="{30B2A53F-01EC-4A33-9B77-EF9A15C879BB}"/>
              </a:ext>
            </a:extLst>
          </p:cNvPr>
          <p:cNvPicPr>
            <a:picLocks noChangeAspect="1"/>
          </p:cNvPicPr>
          <p:nvPr/>
        </p:nvPicPr>
        <p:blipFill>
          <a:blip r:embed="rId2"/>
          <a:stretch>
            <a:fillRect/>
          </a:stretch>
        </p:blipFill>
        <p:spPr>
          <a:xfrm>
            <a:off x="6477000" y="1691322"/>
            <a:ext cx="4748212" cy="4800918"/>
          </a:xfrm>
          <a:prstGeom prst="rect">
            <a:avLst/>
          </a:prstGeom>
        </p:spPr>
      </p:pic>
      <p:pic>
        <p:nvPicPr>
          <p:cNvPr id="4" name="Picture 3">
            <a:extLst>
              <a:ext uri="{FF2B5EF4-FFF2-40B4-BE49-F238E27FC236}">
                <a16:creationId xmlns:a16="http://schemas.microsoft.com/office/drawing/2014/main" id="{A74C2CBA-B9FD-4013-8DB4-574E22768D92}"/>
              </a:ext>
            </a:extLst>
          </p:cNvPr>
          <p:cNvPicPr>
            <a:picLocks noChangeAspect="1"/>
          </p:cNvPicPr>
          <p:nvPr/>
        </p:nvPicPr>
        <p:blipFill rotWithShape="1">
          <a:blip r:embed="rId3"/>
          <a:srcRect l="-330" r="36124"/>
          <a:stretch/>
        </p:blipFill>
        <p:spPr>
          <a:xfrm>
            <a:off x="595314" y="1691322"/>
            <a:ext cx="4748212" cy="4923790"/>
          </a:xfrm>
          <a:prstGeom prst="rect">
            <a:avLst/>
          </a:prstGeom>
        </p:spPr>
      </p:pic>
    </p:spTree>
    <p:extLst>
      <p:ext uri="{BB962C8B-B14F-4D97-AF65-F5344CB8AC3E}">
        <p14:creationId xmlns:p14="http://schemas.microsoft.com/office/powerpoint/2010/main" val="9240941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D5D4E-6DB1-4F58-971A-524A3FAB606C}"/>
              </a:ext>
            </a:extLst>
          </p:cNvPr>
          <p:cNvSpPr>
            <a:spLocks noGrp="1"/>
          </p:cNvSpPr>
          <p:nvPr>
            <p:ph type="title"/>
          </p:nvPr>
        </p:nvSpPr>
        <p:spPr/>
        <p:txBody>
          <a:bodyPr/>
          <a:lstStyle/>
          <a:p>
            <a:r>
              <a:rPr lang="en-US" dirty="0"/>
              <a:t>Gradient Boosting: Prediction Metrics</a:t>
            </a:r>
          </a:p>
        </p:txBody>
      </p:sp>
      <p:pic>
        <p:nvPicPr>
          <p:cNvPr id="3" name="Picture 2">
            <a:extLst>
              <a:ext uri="{FF2B5EF4-FFF2-40B4-BE49-F238E27FC236}">
                <a16:creationId xmlns:a16="http://schemas.microsoft.com/office/drawing/2014/main" id="{32D6724D-35F7-46EA-A598-22C48801E8FC}"/>
              </a:ext>
            </a:extLst>
          </p:cNvPr>
          <p:cNvPicPr>
            <a:picLocks noChangeAspect="1"/>
          </p:cNvPicPr>
          <p:nvPr/>
        </p:nvPicPr>
        <p:blipFill>
          <a:blip r:embed="rId2"/>
          <a:stretch>
            <a:fillRect/>
          </a:stretch>
        </p:blipFill>
        <p:spPr>
          <a:xfrm>
            <a:off x="1261872" y="2081212"/>
            <a:ext cx="8823073" cy="1204913"/>
          </a:xfrm>
          <a:prstGeom prst="rect">
            <a:avLst/>
          </a:prstGeom>
        </p:spPr>
      </p:pic>
      <p:pic>
        <p:nvPicPr>
          <p:cNvPr id="4" name="Picture 3">
            <a:extLst>
              <a:ext uri="{FF2B5EF4-FFF2-40B4-BE49-F238E27FC236}">
                <a16:creationId xmlns:a16="http://schemas.microsoft.com/office/drawing/2014/main" id="{7CD52FA6-3BBD-461B-BEB4-E17CBCCC331B}"/>
              </a:ext>
            </a:extLst>
          </p:cNvPr>
          <p:cNvPicPr>
            <a:picLocks noChangeAspect="1"/>
          </p:cNvPicPr>
          <p:nvPr/>
        </p:nvPicPr>
        <p:blipFill>
          <a:blip r:embed="rId3"/>
          <a:stretch>
            <a:fillRect/>
          </a:stretch>
        </p:blipFill>
        <p:spPr>
          <a:xfrm>
            <a:off x="1248055" y="3900487"/>
            <a:ext cx="8836890" cy="1443038"/>
          </a:xfrm>
          <a:prstGeom prst="rect">
            <a:avLst/>
          </a:prstGeom>
        </p:spPr>
      </p:pic>
    </p:spTree>
    <p:extLst>
      <p:ext uri="{BB962C8B-B14F-4D97-AF65-F5344CB8AC3E}">
        <p14:creationId xmlns:p14="http://schemas.microsoft.com/office/powerpoint/2010/main" val="32566511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B3105-D727-4557-A329-65079B505020}"/>
              </a:ext>
            </a:extLst>
          </p:cNvPr>
          <p:cNvSpPr>
            <a:spLocks noGrp="1"/>
          </p:cNvSpPr>
          <p:nvPr>
            <p:ph type="title"/>
          </p:nvPr>
        </p:nvSpPr>
        <p:spPr/>
        <p:txBody>
          <a:bodyPr/>
          <a:lstStyle/>
          <a:p>
            <a:r>
              <a:rPr lang="en-US" dirty="0"/>
              <a:t>Gradient Boosting: Test Errors</a:t>
            </a:r>
          </a:p>
        </p:txBody>
      </p:sp>
      <p:pic>
        <p:nvPicPr>
          <p:cNvPr id="3" name="Picture 2">
            <a:extLst>
              <a:ext uri="{FF2B5EF4-FFF2-40B4-BE49-F238E27FC236}">
                <a16:creationId xmlns:a16="http://schemas.microsoft.com/office/drawing/2014/main" id="{3E1B9C14-2C88-4E96-958D-A2997A13910A}"/>
              </a:ext>
            </a:extLst>
          </p:cNvPr>
          <p:cNvPicPr>
            <a:picLocks noChangeAspect="1"/>
          </p:cNvPicPr>
          <p:nvPr/>
        </p:nvPicPr>
        <p:blipFill>
          <a:blip r:embed="rId2"/>
          <a:stretch>
            <a:fillRect/>
          </a:stretch>
        </p:blipFill>
        <p:spPr>
          <a:xfrm>
            <a:off x="1609724" y="2005011"/>
            <a:ext cx="8182701" cy="1243013"/>
          </a:xfrm>
          <a:prstGeom prst="rect">
            <a:avLst/>
          </a:prstGeom>
        </p:spPr>
      </p:pic>
      <p:pic>
        <p:nvPicPr>
          <p:cNvPr id="4" name="Picture 3">
            <a:extLst>
              <a:ext uri="{FF2B5EF4-FFF2-40B4-BE49-F238E27FC236}">
                <a16:creationId xmlns:a16="http://schemas.microsoft.com/office/drawing/2014/main" id="{05BCCA8D-79FD-4B1C-94FF-3DC5E42C5028}"/>
              </a:ext>
            </a:extLst>
          </p:cNvPr>
          <p:cNvPicPr>
            <a:picLocks noChangeAspect="1"/>
          </p:cNvPicPr>
          <p:nvPr/>
        </p:nvPicPr>
        <p:blipFill>
          <a:blip r:embed="rId3"/>
          <a:stretch>
            <a:fillRect/>
          </a:stretch>
        </p:blipFill>
        <p:spPr>
          <a:xfrm>
            <a:off x="1609724" y="4114799"/>
            <a:ext cx="8167143" cy="771525"/>
          </a:xfrm>
          <a:prstGeom prst="rect">
            <a:avLst/>
          </a:prstGeom>
        </p:spPr>
      </p:pic>
    </p:spTree>
    <p:extLst>
      <p:ext uri="{BB962C8B-B14F-4D97-AF65-F5344CB8AC3E}">
        <p14:creationId xmlns:p14="http://schemas.microsoft.com/office/powerpoint/2010/main" val="33047852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0B4F4-B312-402B-8E47-0551F32ACBDB}"/>
              </a:ext>
            </a:extLst>
          </p:cNvPr>
          <p:cNvSpPr>
            <a:spLocks noGrp="1"/>
          </p:cNvSpPr>
          <p:nvPr>
            <p:ph type="title"/>
          </p:nvPr>
        </p:nvSpPr>
        <p:spPr>
          <a:xfrm>
            <a:off x="1249680" y="-100965"/>
            <a:ext cx="9692640" cy="882015"/>
          </a:xfrm>
        </p:spPr>
        <p:txBody>
          <a:bodyPr/>
          <a:lstStyle/>
          <a:p>
            <a:r>
              <a:rPr lang="en-US" dirty="0"/>
              <a:t>Gradient Boosting: Graph</a:t>
            </a:r>
          </a:p>
        </p:txBody>
      </p:sp>
      <p:pic>
        <p:nvPicPr>
          <p:cNvPr id="3" name="Picture 2">
            <a:extLst>
              <a:ext uri="{FF2B5EF4-FFF2-40B4-BE49-F238E27FC236}">
                <a16:creationId xmlns:a16="http://schemas.microsoft.com/office/drawing/2014/main" id="{1C0167CA-8BF4-4370-AB6A-CBD98469A801}"/>
              </a:ext>
            </a:extLst>
          </p:cNvPr>
          <p:cNvPicPr>
            <a:picLocks noChangeAspect="1"/>
          </p:cNvPicPr>
          <p:nvPr/>
        </p:nvPicPr>
        <p:blipFill>
          <a:blip r:embed="rId2"/>
          <a:stretch>
            <a:fillRect/>
          </a:stretch>
        </p:blipFill>
        <p:spPr>
          <a:xfrm>
            <a:off x="604837" y="900747"/>
            <a:ext cx="10163175" cy="1295400"/>
          </a:xfrm>
          <a:prstGeom prst="rect">
            <a:avLst/>
          </a:prstGeom>
        </p:spPr>
      </p:pic>
      <p:pic>
        <p:nvPicPr>
          <p:cNvPr id="4" name="Picture 3">
            <a:extLst>
              <a:ext uri="{FF2B5EF4-FFF2-40B4-BE49-F238E27FC236}">
                <a16:creationId xmlns:a16="http://schemas.microsoft.com/office/drawing/2014/main" id="{06107807-C676-4ACA-A6D2-1FFD29C5989C}"/>
              </a:ext>
            </a:extLst>
          </p:cNvPr>
          <p:cNvPicPr>
            <a:picLocks noChangeAspect="1"/>
          </p:cNvPicPr>
          <p:nvPr/>
        </p:nvPicPr>
        <p:blipFill>
          <a:blip r:embed="rId3"/>
          <a:stretch>
            <a:fillRect/>
          </a:stretch>
        </p:blipFill>
        <p:spPr>
          <a:xfrm>
            <a:off x="2581275" y="2315844"/>
            <a:ext cx="7029450" cy="4351656"/>
          </a:xfrm>
          <a:prstGeom prst="rect">
            <a:avLst/>
          </a:prstGeom>
        </p:spPr>
      </p:pic>
    </p:spTree>
    <p:extLst>
      <p:ext uri="{BB962C8B-B14F-4D97-AF65-F5344CB8AC3E}">
        <p14:creationId xmlns:p14="http://schemas.microsoft.com/office/powerpoint/2010/main" val="40505246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475B47-60F8-4AEC-A4CB-0EEBEF449FB0}"/>
              </a:ext>
            </a:extLst>
          </p:cNvPr>
          <p:cNvSpPr>
            <a:spLocks noGrp="1"/>
          </p:cNvSpPr>
          <p:nvPr>
            <p:ph type="title"/>
          </p:nvPr>
        </p:nvSpPr>
        <p:spPr/>
        <p:txBody>
          <a:bodyPr/>
          <a:lstStyle/>
          <a:p>
            <a:r>
              <a:rPr lang="en-US" dirty="0"/>
              <a:t>Gradient Boosting: Accuracy</a:t>
            </a:r>
          </a:p>
        </p:txBody>
      </p:sp>
      <p:sp>
        <p:nvSpPr>
          <p:cNvPr id="3" name="Content Placeholder 2">
            <a:extLst>
              <a:ext uri="{FF2B5EF4-FFF2-40B4-BE49-F238E27FC236}">
                <a16:creationId xmlns:a16="http://schemas.microsoft.com/office/drawing/2014/main" id="{75DBDC78-B777-45C7-B2A1-4B271C8ECCCB}"/>
              </a:ext>
            </a:extLst>
          </p:cNvPr>
          <p:cNvSpPr>
            <a:spLocks noGrp="1"/>
          </p:cNvSpPr>
          <p:nvPr>
            <p:ph idx="1"/>
          </p:nvPr>
        </p:nvSpPr>
        <p:spPr/>
        <p:txBody>
          <a:bodyPr/>
          <a:lstStyle/>
          <a:p>
            <a:r>
              <a:rPr lang="en-US" dirty="0"/>
              <a:t>As the test error value for gradient boosting is 0.135.</a:t>
            </a:r>
          </a:p>
          <a:p>
            <a:r>
              <a:rPr lang="en-US" dirty="0"/>
              <a:t>The accuracy of the model is 1- test error. So the accuracy is 0.865.</a:t>
            </a:r>
          </a:p>
          <a:p>
            <a:r>
              <a:rPr lang="en-US" dirty="0"/>
              <a:t>Therefore the accuracy is 86.5%.</a:t>
            </a:r>
          </a:p>
        </p:txBody>
      </p:sp>
    </p:spTree>
    <p:extLst>
      <p:ext uri="{BB962C8B-B14F-4D97-AF65-F5344CB8AC3E}">
        <p14:creationId xmlns:p14="http://schemas.microsoft.com/office/powerpoint/2010/main" val="28446723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901F3-0110-4F82-8784-CC7B0015D8E2}"/>
              </a:ext>
            </a:extLst>
          </p:cNvPr>
          <p:cNvSpPr>
            <a:spLocks noGrp="1"/>
          </p:cNvSpPr>
          <p:nvPr>
            <p:ph type="title"/>
          </p:nvPr>
        </p:nvSpPr>
        <p:spPr/>
        <p:txBody>
          <a:bodyPr/>
          <a:lstStyle/>
          <a:p>
            <a:r>
              <a:rPr lang="en-US" dirty="0"/>
              <a:t>Which Model is Best?</a:t>
            </a:r>
          </a:p>
        </p:txBody>
      </p:sp>
      <p:sp>
        <p:nvSpPr>
          <p:cNvPr id="3" name="Content Placeholder 2">
            <a:extLst>
              <a:ext uri="{FF2B5EF4-FFF2-40B4-BE49-F238E27FC236}">
                <a16:creationId xmlns:a16="http://schemas.microsoft.com/office/drawing/2014/main" id="{2465F0C7-79CC-42D4-B148-B21F5D28CFC7}"/>
              </a:ext>
            </a:extLst>
          </p:cNvPr>
          <p:cNvSpPr>
            <a:spLocks noGrp="1"/>
          </p:cNvSpPr>
          <p:nvPr>
            <p:ph idx="1"/>
          </p:nvPr>
        </p:nvSpPr>
        <p:spPr/>
        <p:txBody>
          <a:bodyPr/>
          <a:lstStyle/>
          <a:p>
            <a:r>
              <a:rPr lang="en-US" dirty="0"/>
              <a:t>Accuracy of KNN Model is 77.97%.</a:t>
            </a:r>
          </a:p>
          <a:p>
            <a:r>
              <a:rPr lang="en-US" dirty="0"/>
              <a:t>Accuracy of Logistic Regression Model is 81.235%.</a:t>
            </a:r>
          </a:p>
          <a:p>
            <a:r>
              <a:rPr lang="en-US" dirty="0"/>
              <a:t> Accuracy of Gradient Boosting Algorithm is 86.5%.</a:t>
            </a:r>
          </a:p>
          <a:p>
            <a:endParaRPr lang="en-US" dirty="0"/>
          </a:p>
          <a:p>
            <a:r>
              <a:rPr lang="en-US" sz="2400" b="1" dirty="0"/>
              <a:t>So, the best model for data set is Gradient Boosting.</a:t>
            </a:r>
          </a:p>
        </p:txBody>
      </p:sp>
    </p:spTree>
    <p:extLst>
      <p:ext uri="{BB962C8B-B14F-4D97-AF65-F5344CB8AC3E}">
        <p14:creationId xmlns:p14="http://schemas.microsoft.com/office/powerpoint/2010/main" val="27472083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174241-0849-4D3B-BF8C-6552EB2898EA}"/>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522168FB-CD15-4C07-8745-C8205CA73C3A}"/>
              </a:ext>
            </a:extLst>
          </p:cNvPr>
          <p:cNvSpPr>
            <a:spLocks noGrp="1"/>
          </p:cNvSpPr>
          <p:nvPr>
            <p:ph idx="1"/>
          </p:nvPr>
        </p:nvSpPr>
        <p:spPr/>
        <p:txBody>
          <a:bodyPr/>
          <a:lstStyle/>
          <a:p>
            <a:r>
              <a:rPr lang="en-US" dirty="0"/>
              <a:t>We understood various cleaning technique to clean our data. Also, how to normalize our data and creating dummy variables which will be needed for different models.</a:t>
            </a:r>
          </a:p>
          <a:p>
            <a:r>
              <a:rPr lang="en-US" dirty="0"/>
              <a:t>We understood how vector scaling can be used to regularize our data. This was done to converge the model fast.</a:t>
            </a:r>
          </a:p>
          <a:p>
            <a:r>
              <a:rPr lang="en-US" dirty="0"/>
              <a:t>We Created different models and understood there pros and cons.</a:t>
            </a:r>
          </a:p>
          <a:p>
            <a:r>
              <a:rPr lang="en-US" dirty="0"/>
              <a:t>By calculating the accuracy of all the models and creating Confusion Metrics. We predicted which model is best for our data set.</a:t>
            </a:r>
          </a:p>
          <a:p>
            <a:pPr marL="0" indent="0">
              <a:buNone/>
            </a:pPr>
            <a:endParaRPr lang="en-US" dirty="0"/>
          </a:p>
        </p:txBody>
      </p:sp>
    </p:spTree>
    <p:extLst>
      <p:ext uri="{BB962C8B-B14F-4D97-AF65-F5344CB8AC3E}">
        <p14:creationId xmlns:p14="http://schemas.microsoft.com/office/powerpoint/2010/main" val="3811173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9F716D0-C4D4-4F8B-9BAE-51A06CDDAF9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43357" y="0"/>
            <a:ext cx="10287001" cy="6858000"/>
          </a:xfrm>
        </p:spPr>
      </p:pic>
    </p:spTree>
    <p:extLst>
      <p:ext uri="{BB962C8B-B14F-4D97-AF65-F5344CB8AC3E}">
        <p14:creationId xmlns:p14="http://schemas.microsoft.com/office/powerpoint/2010/main" val="4120749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View">
  <a:themeElements>
    <a:clrScheme name="View">
      <a:dk1>
        <a:sysClr val="windowText" lastClr="000000"/>
      </a:dk1>
      <a:lt1>
        <a:sysClr val="window" lastClr="FFFFFF"/>
      </a:lt1>
      <a:dk2>
        <a:srgbClr val="564B3C"/>
      </a:dk2>
      <a:lt2>
        <a:srgbClr val="ECEDD1"/>
      </a:lt2>
      <a:accent1>
        <a:srgbClr val="93A299"/>
      </a:accent1>
      <a:accent2>
        <a:srgbClr val="CB4B30"/>
      </a:accent2>
      <a:accent3>
        <a:srgbClr val="B5AE53"/>
      </a:accent3>
      <a:accent4>
        <a:srgbClr val="6F6A7A"/>
      </a:accent4>
      <a:accent5>
        <a:srgbClr val="E8B54D"/>
      </a:accent5>
      <a:accent6>
        <a:srgbClr val="8A7952"/>
      </a:accent6>
      <a:hlink>
        <a:srgbClr val="9F9F0B"/>
      </a:hlink>
      <a:folHlink>
        <a:srgbClr val="B2B2B2"/>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3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3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866257B-E5CE-4C43-9210-F2DE76BE10B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View">
    <a:dk1>
      <a:sysClr val="windowText" lastClr="000000"/>
    </a:dk1>
    <a:lt1>
      <a:sysClr val="window" lastClr="FFFFFF"/>
    </a:lt1>
    <a:dk2>
      <a:srgbClr val="564B3C"/>
    </a:dk2>
    <a:lt2>
      <a:srgbClr val="ECEDD1"/>
    </a:lt2>
    <a:accent1>
      <a:srgbClr val="93A299"/>
    </a:accent1>
    <a:accent2>
      <a:srgbClr val="CB4B30"/>
    </a:accent2>
    <a:accent3>
      <a:srgbClr val="B5AE53"/>
    </a:accent3>
    <a:accent4>
      <a:srgbClr val="6F6A7A"/>
    </a:accent4>
    <a:accent5>
      <a:srgbClr val="E8B54D"/>
    </a:accent5>
    <a:accent6>
      <a:srgbClr val="8A7952"/>
    </a:accent6>
    <a:hlink>
      <a:srgbClr val="9F9F0B"/>
    </a:hlink>
    <a:folHlink>
      <a:srgbClr val="B2B2B2"/>
    </a:folHlink>
  </a:clrScheme>
</a:themeOverride>
</file>

<file path=docProps/app.xml><?xml version="1.0" encoding="utf-8"?>
<Properties xmlns="http://schemas.openxmlformats.org/officeDocument/2006/extended-properties" xmlns:vt="http://schemas.openxmlformats.org/officeDocument/2006/docPropsVTypes">
  <Template/>
  <TotalTime>333</TotalTime>
  <Words>750</Words>
  <Application>Microsoft Office PowerPoint</Application>
  <PresentationFormat>Widescreen</PresentationFormat>
  <Paragraphs>94</Paragraphs>
  <Slides>44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44</vt:i4>
      </vt:variant>
    </vt:vector>
  </HeadingPairs>
  <TitlesOfParts>
    <vt:vector size="51" baseType="lpstr">
      <vt:lpstr>Arial</vt:lpstr>
      <vt:lpstr>Avenir Next LT Pro</vt:lpstr>
      <vt:lpstr>Calibri</vt:lpstr>
      <vt:lpstr>Century Schoolbook</vt:lpstr>
      <vt:lpstr>Wingdings</vt:lpstr>
      <vt:lpstr>Wingdings 2</vt:lpstr>
      <vt:lpstr>View</vt:lpstr>
      <vt:lpstr>PowerPoint Presentation</vt:lpstr>
      <vt:lpstr>ABOUT THE PROJECT</vt:lpstr>
      <vt:lpstr>SYSTEM FLOW OF THE PROJECT</vt:lpstr>
      <vt:lpstr>DATASET</vt:lpstr>
      <vt:lpstr>DATA UNDERSTANDING</vt:lpstr>
      <vt:lpstr>MODELLING AND ANALYSIS DONE IN OUR PROJECT</vt:lpstr>
      <vt:lpstr>DATA PREPROCESSING</vt:lpstr>
      <vt:lpstr>Data Cleaning</vt:lpstr>
      <vt:lpstr>Data Cleaning</vt:lpstr>
      <vt:lpstr>Data Cleaning</vt:lpstr>
      <vt:lpstr>Data Cleaning </vt:lpstr>
      <vt:lpstr>Data Cleaning</vt:lpstr>
      <vt:lpstr>Data Cleaning</vt:lpstr>
      <vt:lpstr>K-Nearest Neighbor Model </vt:lpstr>
      <vt:lpstr>KNN: Normalization</vt:lpstr>
      <vt:lpstr>KNN: Creating Dummies</vt:lpstr>
      <vt:lpstr>KNN: Removing the extra column</vt:lpstr>
      <vt:lpstr>KNN: Model</vt:lpstr>
      <vt:lpstr>KNN: Model Summary</vt:lpstr>
      <vt:lpstr>KNN: Accuracy of the Model</vt:lpstr>
      <vt:lpstr>KNN: Confusion Matrics</vt:lpstr>
      <vt:lpstr>Logistic Regression Model</vt:lpstr>
      <vt:lpstr>Logistic Regression Model: Data set</vt:lpstr>
      <vt:lpstr>Logistic Regression Model: Scaling</vt:lpstr>
      <vt:lpstr>Logistic Regression Model: Scaling</vt:lpstr>
      <vt:lpstr>Logistic Regression : Training and testing the data.</vt:lpstr>
      <vt:lpstr>Logistic Regression: Training and Testing the data</vt:lpstr>
      <vt:lpstr>Logistic Regression: Converting the dependent variable into binary.</vt:lpstr>
      <vt:lpstr>Logistic Regression: Converting the dependent variable into binary.</vt:lpstr>
      <vt:lpstr>Logistic Regression: Model</vt:lpstr>
      <vt:lpstr>Logistic Regression: Res &amp; Accuracy Calculation</vt:lpstr>
      <vt:lpstr>Gradient Boosting Model</vt:lpstr>
      <vt:lpstr>Gradient Boosting: Scaling</vt:lpstr>
      <vt:lpstr>Gradient Boosting: Testing and Training.</vt:lpstr>
      <vt:lpstr>Gradient Boosting: Converting the Dependent Variable into Binary</vt:lpstr>
      <vt:lpstr>Gradient Boosting: Model</vt:lpstr>
      <vt:lpstr>Gradient Boosting: Model</vt:lpstr>
      <vt:lpstr>Gradient Boosting: Prediction Metrics</vt:lpstr>
      <vt:lpstr>Gradient Boosting: Test Errors</vt:lpstr>
      <vt:lpstr>Gradient Boosting: Graph</vt:lpstr>
      <vt:lpstr>Gradient Boosting: Accuracy</vt:lpstr>
      <vt:lpstr>Which Model is Best?</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abhishek singh</dc:creator>
  <cp:lastModifiedBy>abhishek singh</cp:lastModifiedBy>
  <cp:revision>20</cp:revision>
  <dcterms:created xsi:type="dcterms:W3CDTF">2020-04-26T22:24:58Z</dcterms:created>
  <dcterms:modified xsi:type="dcterms:W3CDTF">2020-04-27T03:58:21Z</dcterms:modified>
</cp:coreProperties>
</file>